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24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2240"/>
                </a:solidFill>
                <a:latin typeface="Arial"/>
              </a:rPr>
              <a:t>Delay Rate by Product Category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Consumer Goods</c:v>
                  </c:pt>
                  <c:pt idx="1">
                    <c:v>Industrial
Equipment</c:v>
                  </c:pt>
                  <c:pt idx="2">
                    <c:v>Textiles</c:v>
                  </c:pt>
                  <c:pt idx="3">
                    <c:v>Electronics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17.5</c:v>
                </c:pt>
                <c:pt idx="1">
                  <c:v>16.5</c:v>
                </c:pt>
                <c:pt idx="2">
                  <c:v>16.5</c:v>
                </c:pt>
                <c:pt idx="3">
                  <c:v>13.4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24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2240"/>
                </a:solidFill>
                <a:latin typeface="Arial"/>
              </a:rPr>
              <a:t>Import vs Export Delay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4ED8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Export 15.4%</c:v>
                </c:pt>
                <c:pt idx="1">
                  <c:v>Import 16.5%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15.4</c:v>
                </c:pt>
                <c:pt idx="1">
                  <c:v>16.5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24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2240"/>
                </a:solidFill>
                <a:latin typeface="Arial"/>
              </a:rPr>
              <a:t>Delay Rate by Customs Clearance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 (%)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
(≤2.5 days)</c:v>
                  </c:pt>
                  <c:pt idx="1">
                    <c:v>Medium
(2.5–4 days)</c:v>
                  </c:pt>
                  <c:pt idx="2">
                    <c:v>High
(&gt;4 days)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11.6</c:v>
                </c:pt>
                <c:pt idx="1">
                  <c:v>16</c:v>
                </c:pt>
                <c:pt idx="2">
                  <c:v>16.4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24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2240"/>
                </a:solidFill>
                <a:latin typeface="Arial"/>
              </a:rPr>
              <a:t>Top Delayed Trade Routes (Delay Rate 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Mumbai → Singapore</c:v>
                  </c:pt>
                  <c:pt idx="1">
                    <c:v>Mumbai → London</c:v>
                  </c:pt>
                  <c:pt idx="2">
                    <c:v>Hamburg → Mumbai</c:v>
                  </c:pt>
                  <c:pt idx="3">
                    <c:v>Bangkok → Mumbai</c:v>
                  </c:pt>
                  <c:pt idx="4">
                    <c:v>Dhaka → Mumbai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23.1</c:v>
                </c:pt>
                <c:pt idx="2">
                  <c:v>23.1</c:v>
                </c:pt>
                <c:pt idx="3">
                  <c:v>16.7</c:v>
                </c:pt>
                <c:pt idx="4">
                  <c:v>16.7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24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2240"/>
                </a:solidFill>
                <a:latin typeface="Arial"/>
              </a:rPr>
              <a:t>Delay by Destination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Singapore</c:v>
                  </c:pt>
                  <c:pt idx="1">
                    <c:v>UK</c:v>
                  </c:pt>
                  <c:pt idx="2">
                    <c:v>Egypt</c:v>
                  </c:pt>
                  <c:pt idx="3">
                    <c:v>Mexico</c:v>
                  </c:pt>
                  <c:pt idx="4">
                    <c:v>Australia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23.1</c:v>
                </c:pt>
                <c:pt idx="2">
                  <c:v>16.7</c:v>
                </c:pt>
                <c:pt idx="3">
                  <c:v>16.7</c:v>
                </c:pt>
                <c:pt idx="4">
                  <c:v>16.7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-4572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2926080"/>
            <a:ext cx="2286000" cy="2286000"/>
          </a:xfrm>
          <a:prstGeom prst="ellipse">
            <a:avLst/>
          </a:prstGeom>
          <a:solidFill>
            <a:srgbClr val="C5D9F1">
              <a:alpha val="7000"/>
            </a:srgbClr>
          </a:solidFill>
          <a:ln w="6350">
            <a:solidFill>
              <a:srgbClr val="C5D9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3840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402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Delay Drivers &amp; Optimising Logistics Performance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India-Centric Global Trade Routes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Consulting Analytics Group  •  </a:t>
            </a:r>
            <a:pPr indent="0" marL="0">
              <a:buNone/>
            </a:pPr>
            <a:r>
              <a:rPr lang="en-US" sz="1100" dirty="0">
                <a:solidFill>
                  <a:srgbClr val="C5D9F1"/>
                </a:solidFill>
              </a:rPr>
              <a:t>728 Shipments  •  Jan 2024 – Dec 2025  •  $101.8M Trade Volume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Supply Chain Analytics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749040"/>
          </a:xfrm>
          <a:prstGeom prst="rect">
            <a:avLst/>
          </a:prstGeom>
          <a:solidFill>
            <a:srgbClr val="0F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supply chains are under growing pressure from regulatory complexity, route volatility, and unpredictable customs processing timelines.
</a:t>
            </a:r>
            <a:pPr indent="0" marL="0">
              <a:buNone/>
            </a:pPr>
            <a:r>
              <a:rPr lang="en-US" sz="11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structured analytics, logistics teams are flying blind — reacting to delays rather than preventing them.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answers a critical business question: </a:t>
            </a:r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shipments are most likely to be delayed, and why?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914400"/>
            <a:ext cx="45720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00600" y="142646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shipments arrive delayed, impacting SLA commitments and client trust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2176272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176272"/>
            <a:ext cx="4572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2677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0600" y="268833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lack a structured view of which routes, categories, or origins drive delay risk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3438144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3438144"/>
            <a:ext cx="4572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35295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Model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95020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operations respond to delays after they occur — no predictive capability exists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069848"/>
            <a:ext cx="457200" cy="457200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08813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Delay Drivers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" y="161848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product categories, trade routes, origin countries, and customs timelines are most strongly correlated with shipment delays.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3931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60120"/>
            <a:ext cx="3931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4965192" y="1069848"/>
            <a:ext cx="457200" cy="457200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13832" y="108813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Risk by Segment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65192" y="161848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conditional delay probabilities across all operational dimensions to enable data-driven prioritisation for logistics teams.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931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0360"/>
            <a:ext cx="3931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2990088"/>
            <a:ext cx="457200" cy="457200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00837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53872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machine learning model to predict delay probability for any new shipment before dispatch, enabling proactive intervention.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880360"/>
            <a:ext cx="3931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880360"/>
            <a:ext cx="3931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4965192" y="2990088"/>
            <a:ext cx="457200" cy="457200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24" name="Text 22"/>
          <p:cNvSpPr/>
          <p:nvPr/>
        </p:nvSpPr>
        <p:spPr>
          <a:xfrm>
            <a:off x="4965192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13832" y="300837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Insights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65192" y="353872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analytical findings into specific, prioritised operational recommendations with measurable expected business impact.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pipeline from raw shipment data to AI-powered recommendations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508760" cy="1508760"/>
          </a:xfrm>
          <a:prstGeom prst="rect">
            <a:avLst/>
          </a:prstGeom>
          <a:solidFill>
            <a:srgbClr val="0F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0" y="1783080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1188720"/>
            <a:ext cx="1508760" cy="1508760"/>
          </a:xfrm>
          <a:prstGeom prst="rect">
            <a:avLst/>
          </a:prstGeom>
          <a:solidFill>
            <a:srgbClr val="1A34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118872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783080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3794760" y="1188720"/>
            <a:ext cx="1508760" cy="15087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118872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1783080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5532120" y="1188720"/>
            <a:ext cx="1508760" cy="150876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118872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1783080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7269480" y="1188720"/>
            <a:ext cx="1508760" cy="15087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118872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1920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63240"/>
            <a:ext cx="19202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1272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3675888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exact routes, categories &amp; customs windows driving delays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3063240"/>
            <a:ext cx="1920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06040" y="3063240"/>
            <a:ext cx="19202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2715768" y="31272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Risk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15768" y="3675888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 for any shipment before it ships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1920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063240"/>
            <a:ext cx="19202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31272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SQL-Powered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64608" y="3675888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Query-ready data model for ongoing operational reporting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03720" y="3063240"/>
            <a:ext cx="1920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03720" y="3063240"/>
            <a:ext cx="19202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7013448" y="31272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13448" y="3675888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AI-generated, route-specific recommendations for logistics teams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2651760" cy="36576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51560"/>
            <a:ext cx="1280160" cy="292608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Layer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463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9601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960120"/>
            <a:ext cx="2651760" cy="36576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051560"/>
            <a:ext cx="1280160" cy="292608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051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02152" y="1463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960120"/>
            <a:ext cx="26517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051560"/>
            <a:ext cx="128016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051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Visualisation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82512" y="1463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80360"/>
            <a:ext cx="265176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971800"/>
            <a:ext cx="1280160" cy="2926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97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Storage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(in-memory)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pipeline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37560" y="28803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2880360"/>
            <a:ext cx="2651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2971800"/>
            <a:ext cx="128016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97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Integration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02152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28803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2880360"/>
            <a:ext cx="265176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2971800"/>
            <a:ext cx="1280160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97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Collaboration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82512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 &amp; Engineering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840480"/>
          </a:xfrm>
          <a:prstGeom prst="rect">
            <a:avLst/>
          </a:prstGeom>
          <a:solidFill>
            <a:srgbClr val="0F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— 12 Columns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shipment_id 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transaction identifier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classification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dispatch date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 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Electronics, Textiles, Consumer Goods, Industrial Equipment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/ destination 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trade endpoints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O_Country / D_Country 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origin and destination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shipment value (USD)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freight_cost 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cost (USD)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9776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customs_clearance_time_days 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clear customs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4297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delivery_status 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or Delayed (target variable)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914400"/>
            <a:ext cx="40233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987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Engineered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41732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14173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is_delayed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flag: 1 = Delayed, 0 = On-Time (ML target)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187452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18745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origin → destination lane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233172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23317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trade corridor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78892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956048" y="27889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/ month / quarter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decomposition for trend analysis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24612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32461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high_value_shipment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top 25% by declared value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70332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956048" y="37033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freight_per_value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ratio: freight cost ÷ shipment value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416052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956048" y="41605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clearance_bucket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customs clearance tiers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 &amp; 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14400"/>
            <a:ext cx="1920240" cy="36576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5" name="Shape 3"/>
          <p:cNvSpPr/>
          <p:nvPr/>
        </p:nvSpPr>
        <p:spPr>
          <a:xfrm>
            <a:off x="521208" y="1005840"/>
            <a:ext cx="548640" cy="256032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005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21208" y="13533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2304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914400"/>
            <a:ext cx="192024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2670048" y="1005840"/>
            <a:ext cx="54864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2670048" y="1005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70048" y="13533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70048" y="2304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91440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914400"/>
            <a:ext cx="1920240" cy="36576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17" name="Shape 15"/>
          <p:cNvSpPr/>
          <p:nvPr/>
        </p:nvSpPr>
        <p:spPr>
          <a:xfrm>
            <a:off x="4818888" y="1005840"/>
            <a:ext cx="548640" cy="256032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1005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18888" y="13533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18888" y="2304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0" y="91440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0" y="914400"/>
            <a:ext cx="19202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6967728" y="1005840"/>
            <a:ext cx="54864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967728" y="1005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67728" y="13533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67728" y="2304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283464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2834640"/>
            <a:ext cx="192024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Shape 27"/>
          <p:cNvSpPr/>
          <p:nvPr/>
        </p:nvSpPr>
        <p:spPr>
          <a:xfrm>
            <a:off x="521208" y="2926080"/>
            <a:ext cx="548640" cy="2560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926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1208" y="32735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" y="4224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60320" y="283464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0" y="2834640"/>
            <a:ext cx="19202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Shape 33"/>
          <p:cNvSpPr/>
          <p:nvPr/>
        </p:nvSpPr>
        <p:spPr>
          <a:xfrm>
            <a:off x="2670048" y="2926080"/>
            <a:ext cx="54864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2670048" y="2926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670048" y="32735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70048" y="4224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6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283464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834640"/>
            <a:ext cx="192024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1" name="Shape 39"/>
          <p:cNvSpPr/>
          <p:nvPr/>
        </p:nvSpPr>
        <p:spPr>
          <a:xfrm>
            <a:off x="4818888" y="2926080"/>
            <a:ext cx="54864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4818888" y="2926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18888" y="32735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18888" y="4224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+ M2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858000" y="283464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58000" y="283464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Shape 45"/>
          <p:cNvSpPr/>
          <p:nvPr/>
        </p:nvSpPr>
        <p:spPr>
          <a:xfrm>
            <a:off x="6967728" y="2926080"/>
            <a:ext cx="5486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967728" y="2926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8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967728" y="32735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67728" y="4224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+ M4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Data Preprocessing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96112"/>
            <a:ext cx="4572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05840"/>
            <a:ext cx="17373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452982"/>
            <a:ext cx="17373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Shipments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24328" y="896112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24328" y="896112"/>
            <a:ext cx="45720" cy="960120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9" name="Text 7"/>
          <p:cNvSpPr/>
          <p:nvPr/>
        </p:nvSpPr>
        <p:spPr>
          <a:xfrm>
            <a:off x="2761488" y="1005840"/>
            <a:ext cx="17373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61488" y="1452982"/>
            <a:ext cx="17373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91456" y="896112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91456" y="896112"/>
            <a:ext cx="45720" cy="9601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928616" y="1005840"/>
            <a:ext cx="17373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$101.8M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928616" y="1452982"/>
            <a:ext cx="17373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 Value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58584" y="896112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58584" y="896112"/>
            <a:ext cx="45720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095744" y="1005840"/>
            <a:ext cx="17373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95744" y="1452982"/>
            <a:ext cx="17373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 – Dec 2025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057400"/>
            <a:ext cx="4114800" cy="2743200"/>
          </a:xfrm>
          <a:prstGeom prst="rect">
            <a:avLst/>
          </a:prstGeom>
          <a:solidFill>
            <a:srgbClr val="0F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21488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Found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2578608"/>
            <a:ext cx="54864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2578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rows —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delivery_status column — missing (NaN)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2999232"/>
            <a:ext cx="54864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2999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rows —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customs_clearance_time_days — text values ('On-Time'/'Delayed') instead of numeric 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4360" y="3419856"/>
            <a:ext cx="54864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4198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rows —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D_Country — numeric strings (e.g. '65000') instead of country name 'Singapore'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" y="3840480"/>
            <a:ext cx="54864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3840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—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column stored as plain string — not datetime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" y="4261104"/>
            <a:ext cx="54864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2611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— </a:t>
            </a:r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columns — inconsistent whitespace and casing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2057400"/>
            <a:ext cx="3886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057400"/>
            <a:ext cx="388620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21305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&amp; Fixes Applied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56048" y="2542032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254203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All 24 corrupted rows are Industrial Equipment Exports to Singapore — a systematic 3-column misalignment during data entry.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956048" y="2907792"/>
            <a:ext cx="54864" cy="2377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290779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1: Rescued delivery_status from customs column (text was in the wrong field). Zero values dropped.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956048" y="3273552"/>
            <a:ext cx="54864" cy="2377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5120640" y="327355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2: Set D_Country = 'Singapore' (confirmed via destination city column). Country identity fully recovered.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956048" y="3639312"/>
            <a:ext cx="54864" cy="2377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363931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3: Converted customs_clearance_time_days to float64. Corrupted entries set to NaN and flagged.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4956048" y="4005072"/>
            <a:ext cx="54864" cy="2377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5120640" y="400507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4: Parsed date to datetime64. Standardised all text fields. Added data_quality_flag column.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4956048" y="4370832"/>
            <a:ext cx="54864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5120640" y="437083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728 rows retained. 0 missing delivery_status. All corruption documented and traceable.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914400"/>
          <a:ext cx="22860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457200" y="3246120"/>
          <a:ext cx="41148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Shape 1"/>
          <p:cNvSpPr/>
          <p:nvPr/>
        </p:nvSpPr>
        <p:spPr>
          <a:xfrm>
            <a:off x="4754880" y="3246120"/>
            <a:ext cx="3931920" cy="1600200"/>
          </a:xfrm>
          <a:prstGeom prst="rect">
            <a:avLst/>
          </a:prstGeom>
          <a:solidFill>
            <a:srgbClr val="0F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2"/>
          <p:cNvSpPr/>
          <p:nvPr/>
        </p:nvSpPr>
        <p:spPr>
          <a:xfrm>
            <a:off x="4892040" y="33375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4892040" y="3712464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Goods leads all categories at 17.5% delay rate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delay 7% more often than Exports — customs asymmetry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customs clearance time correlates with higher delay risk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cost = consistently 5% of shipment value across all routes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 &amp; Insights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303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035040" y="914400"/>
          <a:ext cx="26517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38328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457200" y="3383280"/>
            <a:ext cx="45720" cy="1508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3"/>
          <p:cNvSpPr/>
          <p:nvPr/>
        </p:nvSpPr>
        <p:spPr>
          <a:xfrm>
            <a:off x="594360" y="3493008"/>
            <a:ext cx="17373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94360" y="4258361"/>
            <a:ext cx="173736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→ Singapore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single route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2624328" y="338328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624328" y="3383280"/>
            <a:ext cx="45720" cy="1508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7"/>
          <p:cNvSpPr/>
          <p:nvPr/>
        </p:nvSpPr>
        <p:spPr>
          <a:xfrm>
            <a:off x="2761488" y="3493008"/>
            <a:ext cx="17373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2761488" y="4258361"/>
            <a:ext cx="173736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UK-bound exports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above average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791456" y="338328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91456" y="3383280"/>
            <a:ext cx="45720" cy="1508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1"/>
          <p:cNvSpPr/>
          <p:nvPr/>
        </p:nvSpPr>
        <p:spPr>
          <a:xfrm>
            <a:off x="4928616" y="3493008"/>
            <a:ext cx="17373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4928616" y="4258361"/>
            <a:ext cx="173736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Freight-to-value ratio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— pricing not a driver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958584" y="338328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58584" y="3383280"/>
            <a:ext cx="45720" cy="1508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5"/>
          <p:cNvSpPr/>
          <p:nvPr/>
        </p:nvSpPr>
        <p:spPr>
          <a:xfrm>
            <a:off x="7095744" y="3493008"/>
            <a:ext cx="1737360" cy="829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days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7095744" y="4258361"/>
            <a:ext cx="173736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clearance for delayed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3.6 days for on-time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Integration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 — converting analytical findings into operational recommendations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508760" cy="1371600"/>
          </a:xfrm>
          <a:prstGeom prst="rect">
            <a:avLst/>
          </a:prstGeom>
          <a:solidFill>
            <a:srgbClr val="0F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0700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728 rows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shipment_cleaned.csv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1764792"/>
            <a:ext cx="21031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2039112" y="1143000"/>
            <a:ext cx="1508760" cy="1371600"/>
          </a:xfrm>
          <a:prstGeom prst="rect">
            <a:avLst/>
          </a:prstGeom>
          <a:solidFill>
            <a:srgbClr val="1A34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39112" y="120700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39112" y="18745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rates, route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customs impact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47872" y="1764792"/>
            <a:ext cx="21031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3758184" y="1143000"/>
            <a:ext cx="1508760" cy="13716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58184" y="120700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58184" y="18745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Context-enriched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66944" y="1764792"/>
            <a:ext cx="21031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77256" y="1143000"/>
            <a:ext cx="1508760" cy="13716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77256" y="120700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77256" y="18745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86016" y="1764792"/>
            <a:ext cx="21031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7196328" y="1143000"/>
            <a:ext cx="1508760" cy="13716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96328" y="120700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96328" y="18745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Route-specific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4023360" cy="2103120"/>
          </a:xfrm>
          <a:prstGeom prst="rect">
            <a:avLst/>
          </a:prstGeom>
          <a:solidFill>
            <a:srgbClr val="0F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GenAI Receives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21868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delay rate: 15.9%
</a:t>
            </a:r>
            <a:pPr indent="0" marL="0">
              <a:buNone/>
            </a:pPr>
            <a:r>
              <a:rPr lang="en-US" sz="9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Highest-risk category: Consumer Goods (17.5%)
</a:t>
            </a:r>
            <a:pPr indent="0" marL="0">
              <a:buNone/>
            </a:pPr>
            <a:r>
              <a:rPr lang="en-US" sz="9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route risk: Mumbai → Singapore (25.0%)
</a:t>
            </a:r>
            <a:pPr indent="0" marL="0">
              <a:buNone/>
            </a:pPr>
            <a:r>
              <a:rPr lang="en-US" sz="9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Customs clearance impact: +1.3 days for delayed shipments
</a:t>
            </a:r>
            <a:pPr indent="0" marL="0">
              <a:buNone/>
            </a:pPr>
            <a:r>
              <a:rPr lang="en-US" sz="9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 risk: Germany highest at 23.1%
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raw data — only cleaned summary statistics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743200"/>
            <a:ext cx="39319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743200"/>
            <a:ext cx="3931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816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GenAI Produces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2004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route-level delay reduction actions with carrier alternatives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pre-clearance triggers for high-risk categories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automation recommendations to cut clearance time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buffer adjustments by origin country and product type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matrix for logistics team intervention by delay probability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45720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24128"/>
            <a:ext cx="59436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241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261872" y="9692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→ Singapore: 25% delay 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61872" y="13075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Evaluate alternate logistics carriers for this lane. Initiate pre-clearance paperwork 72 hrs before dispatch.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20640" y="969264"/>
            <a:ext cx="36576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9692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257800" y="12252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8–12% delay reduction on this route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737360"/>
            <a:ext cx="45720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1847088"/>
            <a:ext cx="59436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184708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261872" y="17922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Goods highest delay category at 17.5%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61872" y="21305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Assign dedicated customs compliance agent for Consumer Goods shipments. Standardise documentation checklist.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20640" y="1792224"/>
            <a:ext cx="36576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17922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57800" y="20482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processing exceptions and documentation re-submissions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560320"/>
            <a:ext cx="4572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2670048"/>
            <a:ext cx="59436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6700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261872" y="26151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clearance &gt;4 days → 41% higher delay risk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61872" y="29535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Implement automated document review flag for shipments predicted to exceed 4-day clearance threshold.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20640" y="2615184"/>
            <a:ext cx="36576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2615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57800" y="28712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intervention window of 2–3 days per flagged shipment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38328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383280"/>
            <a:ext cx="4572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" y="3493008"/>
            <a:ext cx="59436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34930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261872" y="34381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origin: 23.1% delay rate — highest among all origins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61872" y="37764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Build additional 2-day buffer into SLAs for Germany-origin shipments. Review vendor lead time compliance.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120640" y="3438144"/>
            <a:ext cx="36576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5257800" y="34381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57800" y="36941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SLA breaches and client escalations on this corridor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420624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206240"/>
            <a:ext cx="4572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Shape 39"/>
          <p:cNvSpPr/>
          <p:nvPr/>
        </p:nvSpPr>
        <p:spPr>
          <a:xfrm>
            <a:off x="566928" y="4315968"/>
            <a:ext cx="59436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431596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261872" y="42611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cost uniformly 5% of value — no dynamic pricing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61872" y="45994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Benchmark against market rates for high-volume lanes. Negotiate volume-tiered freight rates with carriers.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120640" y="4261104"/>
            <a:ext cx="36576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5257800" y="42611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57800" y="45171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2–4% freight cost savings on high-volume India–USA lane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45720" cy="87782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19786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Multi-column data corruption in 24 rows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62272" y="1051560"/>
            <a:ext cx="36576" cy="6949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617720" y="12161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auditing of column-level data types and cross-field logic checks is essential before any analysis. The corruption would have silently distorted delay statistics by 2–4% if undetected.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65960"/>
            <a:ext cx="45720" cy="8778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020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4360" y="220370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skew: 50% of shipments from Mumbai, 50% from India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62272" y="2057400"/>
            <a:ext cx="36576" cy="6949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020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17720" y="22219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 limits generalisability. Analysis was segmented by origin to avoid bias in aggregate delay rates, and route-level granularity was prioritised over country-level averages.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82296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71800"/>
            <a:ext cx="45720" cy="8778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026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4360" y="32095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actual lead-time column — delay is binary only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62272" y="3063240"/>
            <a:ext cx="36576" cy="6949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3026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17720" y="32278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On-Time / Delayed as the outcome, delay magnitude cannot be measured. This shaped modelling decisions: classification over regression, and conditional probability tables over time-series forecasting.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77640"/>
            <a:ext cx="45720" cy="8778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0325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4360" y="421538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class imbalance: 84.1% On-Time vs 15.9% Delayed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62272" y="4069080"/>
            <a:ext cx="36576" cy="6949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40325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17720" y="42336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used class_weight='balanced' to prevent the model from defaulting to majority-class prediction. Classification reports assessed precision and recall for each class separately.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 &amp; Repository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4114800" cy="3950208"/>
          </a:xfrm>
          <a:prstGeom prst="rect">
            <a:avLst/>
          </a:prstGeom>
          <a:solidFill>
            <a:srgbClr val="0F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9875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Structure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supply-chain-analytics/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README.md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data/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├── raw/shipment.csv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└── processed/shipment_cleaned.csv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notebooks/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└── Supply_Chain_Analytics.ipynb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scripts/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└── data_cleaning.py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sql/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└── queries.sql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5D9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requirements.txt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00600" y="896112"/>
            <a:ext cx="3886200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00600" y="896112"/>
            <a:ext cx="3886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9692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Walkthrough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389888"/>
            <a:ext cx="34747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898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58384" y="13898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notebook in Google Colab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58384" y="15727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setup cell and file upload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37760" y="1874520"/>
            <a:ext cx="34747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874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58384" y="18745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Data Cleaning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58384" y="20574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24 corrupted rows and live fix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37760" y="2359152"/>
            <a:ext cx="34747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35915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58384" y="23591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EDA Charts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58384" y="25420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by category, country, monthly trend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37760" y="2843784"/>
            <a:ext cx="34747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8437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58384" y="28437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Predictive Model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58384" y="30266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feature importance output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37760" y="3328416"/>
            <a:ext cx="34747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32841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58384" y="33284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Interactive Visuals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58384" y="35112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Sankey diagram and world map (Plotly)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37760" y="3813048"/>
            <a:ext cx="34747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81304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58384" y="38130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— SQL Queries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58384" y="39959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query: top delayed routes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37760" y="4297680"/>
            <a:ext cx="347472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429768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58384" y="4297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58384" y="44805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structure, commit history, README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0D9488">
              <a:alpha val="10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325880" cy="822960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analysed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29968" y="1508760"/>
            <a:ext cx="1325880" cy="822960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10" name="Text 8"/>
          <p:cNvSpPr/>
          <p:nvPr/>
        </p:nvSpPr>
        <p:spPr>
          <a:xfrm>
            <a:off x="2029968" y="15544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29968" y="19659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delay rate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511296" y="1508760"/>
            <a:ext cx="1325880" cy="822960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13" name="Text 11"/>
          <p:cNvSpPr/>
          <p:nvPr/>
        </p:nvSpPr>
        <p:spPr>
          <a:xfrm>
            <a:off x="3511296" y="15544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11296" y="19659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recommendations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992624" y="1508760"/>
            <a:ext cx="1325880" cy="822960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16" name="Text 14"/>
          <p:cNvSpPr/>
          <p:nvPr/>
        </p:nvSpPr>
        <p:spPr>
          <a:xfrm>
            <a:off x="4992624" y="15544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phases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92624" y="19659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2788920" cy="2331720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6060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2980944"/>
            <a:ext cx="2542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analytics pipeline on 728 real shipments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identification of 3-column data corruption (24 rows)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delay probability tables across all segments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model with feature importance analysis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business SQL queries on a production-ready schema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route-level operational playbook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2514600"/>
            <a:ext cx="2788920" cy="23317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26060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2980944"/>
            <a:ext cx="2542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delay prediction API integrated into logistics TMS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dataset: actual lead times, carrier identifiers, cost breakdowns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time-series model for seasonal delay forecasting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Sankey dashboard connected to live shipment data feed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SLA alert system triggered by delay risk score threshold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89204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Supply Chain Analytics  |  Consulting Analytics Group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Analytics — Consulting Presentation</dc:title>
  <dc:subject>PptxGenJS Presentation</dc:subject>
  <dc:creator>PptxGenJS</dc:creator>
  <cp:lastModifiedBy>PptxGenJS</cp:lastModifiedBy>
  <cp:revision>1</cp:revision>
  <dcterms:created xsi:type="dcterms:W3CDTF">2026-05-08T05:33:53Z</dcterms:created>
  <dcterms:modified xsi:type="dcterms:W3CDTF">2026-05-08T05:33:53Z</dcterms:modified>
</cp:coreProperties>
</file>