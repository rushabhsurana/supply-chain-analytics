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4" r:id="rId10"/>
    <p:sldId id="274" r:id="rId11"/>
    <p:sldId id="271" r:id="rId12"/>
    <p:sldId id="265" r:id="rId13"/>
    <p:sldId id="272" r:id="rId14"/>
    <p:sldId id="273" r:id="rId15"/>
    <p:sldId id="266" r:id="rId16"/>
    <p:sldId id="267" r:id="rId17"/>
    <p:sldId id="270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915E4D-A9B1-ADFB-209D-F41546A074B7}" v="29" dt="2026-05-11T08:33:36.107"/>
    <p1510:client id="{2139849F-2F19-31C5-8403-4E9F5FDBF083}" v="23" dt="2026-05-10T19:07:57.834"/>
    <p1510:client id="{3EA4B1B9-279B-06E2-2EA7-20A84A73ACC4}" v="76" dt="2026-05-10T08:06:24.662"/>
    <p1510:client id="{3EB0BE53-3A15-1991-5B23-967033E8484C}" v="18" dt="2026-05-11T08:33:34.014"/>
    <p1510:client id="{4364C254-D565-04DD-8451-6C66B7625CEA}" v="15" dt="2026-05-10T18:16:14.981"/>
    <p1510:client id="{49DA1E14-5929-7942-2C38-8D299F67784D}" v="2" dt="2026-05-10T18:59:36.195"/>
    <p1510:client id="{510EF8EB-8C7F-C1B2-7054-1323C09812F1}" v="5" dt="2026-05-10T17:10:55.637"/>
    <p1510:client id="{7C923AEF-8D30-1679-3CFF-9F8E7855BF0F}" v="1" dt="2026-05-11T08:44:57.879"/>
    <p1510:client id="{87CF2265-734A-17F9-29D7-1915B483C9DD}" v="121" dt="2026-05-11T08:40:44.814"/>
    <p1510:client id="{8A418100-1E64-DA7F-FF12-5AD49F0D0E29}" v="151" dt="2026-05-10T18:54:22.436"/>
    <p1510:client id="{A809C475-72A2-E175-7A30-77F31CB20D1E}" v="4" dt="2026-05-10T18:03:15.773"/>
    <p1510:client id="{D82A45EC-EBE5-8543-E76E-4D3E2C150AE6}" v="192" dt="2026-05-11T04:31:12.845"/>
    <p1510:client id="{F9EE1350-C764-B801-1F24-792E519F33FD}" v="1" dt="2026-05-11T08:29:35.759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8_0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8_0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8_0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9_0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9_0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224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F2240"/>
                </a:solidFill>
                <a:latin typeface="Arial"/>
              </a:rPr>
              <a:t>Delay Rate by Product Category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Delay Rate (%)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D13-4F4A-9D78-C8917F1257E7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D13-4F4A-9D78-C8917F1257E7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D13-4F4A-9D78-C8917F1257E7}"/>
              </c:ext>
            </c:extLst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D13-4F4A-9D78-C8917F1257E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Consumer Goods</c:v>
                </c:pt>
                <c:pt idx="1">
                  <c:v>Industrial
Equipment</c:v>
                </c:pt>
                <c:pt idx="2">
                  <c:v>Textiles</c:v>
                </c:pt>
                <c:pt idx="3">
                  <c:v>Electronics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17.5</c:v>
                </c:pt>
                <c:pt idx="1">
                  <c:v>16.5</c:v>
                </c:pt>
                <c:pt idx="2">
                  <c:v>16.5</c:v>
                </c:pt>
                <c:pt idx="3">
                  <c:v>13.4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D13-4F4A-9D78-C8917F1257E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224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F2240"/>
                </a:solidFill>
                <a:latin typeface="Arial"/>
              </a:rPr>
              <a:t>Import vs Export Delay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Delay Rate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D4E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D34-4FE3-B219-0CA74AAFBEAA}"/>
              </c:ext>
            </c:extLst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D34-4FE3-B219-0CA74AAFBEAA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D34-4FE3-B219-0CA74AAFBEAA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D34-4FE3-B219-0CA74AAFBEAA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Export 15.4%</c:v>
                </c:pt>
                <c:pt idx="1">
                  <c:v>Import 16.5%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15.4</c:v>
                </c:pt>
                <c:pt idx="1">
                  <c:v>16.5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D34-4FE3-B219-0CA74AAFBE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224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F2240"/>
                </a:solidFill>
                <a:latin typeface="Arial"/>
              </a:rPr>
              <a:t>Delay Rate by Customs Clearance Tier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Delay Rate (%)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C54-4323-9DE4-F1FD08CD00BD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C54-4323-9DE4-F1FD08CD00BD}"/>
              </c:ext>
            </c:extLst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C54-4323-9DE4-F1FD08CD00B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Low
(≤2.5 days)</c:v>
                </c:pt>
                <c:pt idx="1">
                  <c:v>Medium
(2.5–4 days)</c:v>
                </c:pt>
                <c:pt idx="2">
                  <c:v>High
(&gt;4 days)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11.6</c:v>
                </c:pt>
                <c:pt idx="1">
                  <c:v>16</c:v>
                </c:pt>
                <c:pt idx="2">
                  <c:v>16.399999999999999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C54-4323-9DE4-F1FD08CD00B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224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F2240"/>
                </a:solidFill>
                <a:latin typeface="Arial"/>
              </a:rPr>
              <a:t>Top Delayed Trade Routes (Delay Rate 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Delay Rate (%)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7A1-4FF2-B3F4-88BBECB4A2E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7A1-4FF2-B3F4-88BBECB4A2E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57A1-4FF2-B3F4-88BBECB4A2E8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7A1-4FF2-B3F4-88BBECB4A2E8}"/>
              </c:ext>
            </c:extLst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7A1-4FF2-B3F4-88BBECB4A2E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Mumbai → Singapore</c:v>
                </c:pt>
                <c:pt idx="1">
                  <c:v>Mumbai → London</c:v>
                </c:pt>
                <c:pt idx="2">
                  <c:v>Hamburg → Mumbai</c:v>
                </c:pt>
                <c:pt idx="3">
                  <c:v>Bangkok → Mumbai</c:v>
                </c:pt>
                <c:pt idx="4">
                  <c:v>Dhaka → Mumbai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23.1</c:v>
                </c:pt>
                <c:pt idx="2">
                  <c:v>23.1</c:v>
                </c:pt>
                <c:pt idx="3">
                  <c:v>16.7</c:v>
                </c:pt>
                <c:pt idx="4">
                  <c:v>16.7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7A1-4FF2-B3F4-88BBECB4A2E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F224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F2240"/>
                </a:solidFill>
                <a:latin typeface="Arial"/>
              </a:rPr>
              <a:t>Delay by Destination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Delay Rate (%)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952-4DFD-A9D0-531DF38265F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E952-4DFD-A9D0-531DF38265FB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952-4DFD-A9D0-531DF38265FB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952-4DFD-A9D0-531DF38265FB}"/>
              </c:ext>
            </c:extLst>
          </c:dPt>
          <c:dPt>
            <c:idx val="4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952-4DFD-A9D0-531DF38265F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Singapore</c:v>
                </c:pt>
                <c:pt idx="1">
                  <c:v>UK</c:v>
                </c:pt>
                <c:pt idx="2">
                  <c:v>Egypt</c:v>
                </c:pt>
                <c:pt idx="3">
                  <c:v>Mexico</c:v>
                </c:pt>
                <c:pt idx="4">
                  <c:v>Australia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23.1</c:v>
                </c:pt>
                <c:pt idx="2">
                  <c:v>16.7</c:v>
                </c:pt>
                <c:pt idx="3">
                  <c:v>16.7</c:v>
                </c:pt>
                <c:pt idx="4">
                  <c:v>16.7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952-4DFD-A9D0-531DF38265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5FD070-BBDE-44CC-A5FA-43AC291C3845}" type="datetimeFigureOut">
              <a:t>5/11/2026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CC1B82-5BB3-4052-B0C5-30327094593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8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3461"/>
          </a:solidFill>
          <a:ln/>
        </p:spPr>
      </p:sp>
      <p:sp>
        <p:nvSpPr>
          <p:cNvPr id="4" name="Shape 2"/>
          <p:cNvSpPr/>
          <p:nvPr/>
        </p:nvSpPr>
        <p:spPr>
          <a:xfrm>
            <a:off x="6949440" y="-45720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0" y="2926080"/>
            <a:ext cx="2286000" cy="2286000"/>
          </a:xfrm>
          <a:prstGeom prst="ellipse">
            <a:avLst/>
          </a:prstGeom>
          <a:solidFill>
            <a:srgbClr val="C5D9F1">
              <a:alpha val="7000"/>
            </a:srgbClr>
          </a:solidFill>
          <a:ln w="6350">
            <a:solidFill>
              <a:srgbClr val="C5D9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4008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420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kern="0" spc="40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4200"/>
          </a:p>
        </p:txBody>
      </p:sp>
      <p:sp>
        <p:nvSpPr>
          <p:cNvPr id="8" name="Shape 6"/>
          <p:cNvSpPr/>
          <p:nvPr/>
        </p:nvSpPr>
        <p:spPr>
          <a:xfrm>
            <a:off x="548640" y="2084832"/>
            <a:ext cx="38404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402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C5D9F1"/>
                </a:solidFill>
                <a:latin typeface="Calibri"/>
                <a:ea typeface="Calibri"/>
                <a:cs typeface="Calibri"/>
              </a:rPr>
              <a:t>Identifying Delay Drivers &amp; Optimizing Logistics Performance</a:t>
            </a:r>
            <a:endParaRPr lang="en-US" sz="13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300">
                <a:solidFill>
                  <a:srgbClr val="C5D9F1"/>
                </a:solidFill>
                <a:latin typeface="Calibri"/>
                <a:ea typeface="Calibri"/>
                <a:cs typeface="Calibri"/>
              </a:rPr>
              <a:t>Across India-Centric Global Trade Routes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5670839" cy="10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64748B"/>
                </a:solidFill>
              </a:rPr>
              <a:t>Data:  </a:t>
            </a:r>
            <a:r>
              <a:rPr lang="en-US" sz="1100">
                <a:solidFill>
                  <a:srgbClr val="C5D9F1"/>
                </a:solidFill>
              </a:rPr>
              <a:t>728 Shipments  •  Jan 2024 – Dec 2025  •  $101.8M Trade Volume</a:t>
            </a:r>
            <a:endParaRPr lang="en-US" sz="110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endParaRPr lang="en-US" sz="1100">
              <a:solidFill>
                <a:srgbClr val="C5D9F1"/>
              </a:solidFill>
              <a:ea typeface="+mn-lt"/>
              <a:cs typeface="+mn-lt"/>
            </a:endParaRPr>
          </a:p>
          <a:p>
            <a:r>
              <a:rPr lang="en-US" sz="1100">
                <a:solidFill>
                  <a:srgbClr val="C5D9F1"/>
                </a:solidFill>
                <a:ea typeface="+mn-lt"/>
                <a:cs typeface="+mn-lt"/>
              </a:rPr>
              <a:t>Team Members: 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r>
              <a:rPr lang="en-US" sz="1100">
                <a:solidFill>
                  <a:srgbClr val="C5D9F1"/>
                </a:solidFill>
                <a:ea typeface="+mn-lt"/>
                <a:cs typeface="+mn-lt"/>
              </a:rPr>
              <a:t>Simran</a:t>
            </a:r>
          </a:p>
          <a:p>
            <a:pPr marL="171450" indent="-171450">
              <a:buFont typeface="Calibri"/>
              <a:buChar char="-"/>
            </a:pPr>
            <a:r>
              <a:rPr lang="en-US" sz="1100">
                <a:solidFill>
                  <a:srgbClr val="C5D9F1"/>
                </a:solidFill>
                <a:ea typeface="+mn-lt"/>
                <a:cs typeface="+mn-lt"/>
              </a:rPr>
              <a:t>Janani</a:t>
            </a:r>
          </a:p>
          <a:p>
            <a:pPr marL="171450" indent="-171450">
              <a:buFont typeface="Calibri"/>
              <a:buChar char="-"/>
            </a:pPr>
            <a:r>
              <a:rPr lang="en-US" sz="1100">
                <a:solidFill>
                  <a:srgbClr val="C5D9F1"/>
                </a:solidFill>
                <a:ea typeface="+mn-lt"/>
                <a:cs typeface="+mn-lt"/>
              </a:rPr>
              <a:t>Manav</a:t>
            </a:r>
          </a:p>
          <a:p>
            <a:pPr marL="171450" indent="-171450">
              <a:buFont typeface="Calibri"/>
              <a:buChar char="-"/>
            </a:pPr>
            <a:r>
              <a:rPr lang="en-US" sz="1100">
                <a:solidFill>
                  <a:srgbClr val="C5D9F1"/>
                </a:solidFill>
                <a:ea typeface="+mn-lt"/>
                <a:cs typeface="+mn-lt"/>
              </a:rPr>
              <a:t>Anish</a:t>
            </a:r>
          </a:p>
          <a:p>
            <a:pPr marL="171450" indent="-171450">
              <a:buFont typeface="Calibri"/>
              <a:buChar char="-"/>
            </a:pPr>
            <a:r>
              <a:rPr lang="en-US" sz="1100">
                <a:solidFill>
                  <a:srgbClr val="C5D9F1"/>
                </a:solidFill>
                <a:ea typeface="+mn-lt"/>
                <a:cs typeface="+mn-lt"/>
              </a:rPr>
              <a:t>Rushabh</a:t>
            </a:r>
          </a:p>
          <a:p>
            <a:pPr marL="171450" indent="-171450">
              <a:buFont typeface="Calibri"/>
              <a:buChar char="-"/>
            </a:pPr>
            <a:r>
              <a:rPr lang="en-US" sz="1100">
                <a:solidFill>
                  <a:srgbClr val="C5D9F1"/>
                </a:solidFill>
                <a:ea typeface="+mn-lt"/>
                <a:cs typeface="+mn-lt"/>
              </a:rPr>
              <a:t>Shubham</a:t>
            </a:r>
          </a:p>
          <a:p>
            <a:endParaRPr lang="en-US" sz="1100">
              <a:solidFill>
                <a:srgbClr val="C5D9F1"/>
              </a:solidFill>
              <a:ea typeface="+mn-lt"/>
              <a:cs typeface="+mn-lt"/>
            </a:endParaRPr>
          </a:p>
          <a:p>
            <a:endParaRPr lang="en-US" sz="1100">
              <a:solidFill>
                <a:srgbClr val="C5D9F1"/>
              </a:solidFill>
              <a:ea typeface="+mn-lt"/>
              <a:cs typeface="+mn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>
              <a:solidFill>
                <a:srgbClr val="64748B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3749040"/>
          </a:xfrm>
          <a:prstGeom prst="rect">
            <a:avLst/>
          </a:prstGeom>
          <a:solidFill>
            <a:srgbClr val="0F22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051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Challenge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rgbClr val="C5D9F1"/>
                </a:solidFill>
                <a:latin typeface="Calibri"/>
                <a:ea typeface="Calibri"/>
                <a:cs typeface="Calibri"/>
              </a:rPr>
              <a:t>Global supply chains are under growing pressure from regulatory complexity, route volatility, and unpredictable customs processing timelines.
Without structured analytics, logistics teams are flying blind — reacting to delays rather than preventing them.
</a:t>
            </a: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This project answers a critical business question: </a:t>
            </a:r>
            <a:endParaRPr lang="en-US" sz="11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100" b="1">
                <a:solidFill>
                  <a:srgbClr val="5EEAD4"/>
                </a:solidFill>
                <a:latin typeface="Calibri"/>
                <a:ea typeface="Calibri"/>
                <a:cs typeface="Calibri"/>
              </a:rPr>
              <a:t>Which shipments are most likely to be delayed, and why?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663440" y="914400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63440" y="914400"/>
            <a:ext cx="45720" cy="10972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4800600" y="10058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15.9%</a:t>
            </a:r>
            <a:endParaRPr lang="en-US" sz="2200"/>
          </a:p>
        </p:txBody>
      </p:sp>
      <p:sp>
        <p:nvSpPr>
          <p:cNvPr id="9" name="Text 7"/>
          <p:cNvSpPr/>
          <p:nvPr/>
        </p:nvSpPr>
        <p:spPr>
          <a:xfrm>
            <a:off x="4800600" y="1426464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of all shipments arrive delayed, impacting SLA commitments and client trust</a:t>
            </a:r>
            <a:endParaRPr lang="en-US" sz="950"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63440" y="2176272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176272"/>
            <a:ext cx="45720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226771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endParaRPr lang="en-US" sz="2200"/>
          </a:p>
        </p:txBody>
      </p:sp>
      <p:sp>
        <p:nvSpPr>
          <p:cNvPr id="13" name="Text 11"/>
          <p:cNvSpPr/>
          <p:nvPr/>
        </p:nvSpPr>
        <p:spPr>
          <a:xfrm>
            <a:off x="4800600" y="2688336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lack a structured view of which routes, categories, or origins drive delay risk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4663440" y="3438144"/>
            <a:ext cx="40233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3438144"/>
            <a:ext cx="4572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352958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Model</a:t>
            </a:r>
            <a:endParaRPr lang="en-US" sz="2200"/>
          </a:p>
        </p:txBody>
      </p:sp>
      <p:sp>
        <p:nvSpPr>
          <p:cNvPr id="17" name="Text 15"/>
          <p:cNvSpPr/>
          <p:nvPr/>
        </p:nvSpPr>
        <p:spPr>
          <a:xfrm>
            <a:off x="4800600" y="3950208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operations respond to delays after they occur — no predictive capability exists</a:t>
            </a:r>
            <a:endParaRPr lang="en-US" sz="950"/>
          </a:p>
        </p:txBody>
      </p:sp>
      <p:sp>
        <p:nvSpPr>
          <p:cNvPr id="18" name="Text 16"/>
          <p:cNvSpPr/>
          <p:nvPr/>
        </p:nvSpPr>
        <p:spPr>
          <a:xfrm>
            <a:off x="813816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</a:rPr>
              <a:t>2 / 15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60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9319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39319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069848"/>
            <a:ext cx="457200" cy="457200"/>
          </a:xfrm>
          <a:prstGeom prst="rect">
            <a:avLst/>
          </a:prstGeom>
          <a:solidFill>
            <a:srgbClr val="0F2240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069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D9488"/>
                </a:solidFill>
              </a:rPr>
              <a:t>01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1170432" y="108813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Delay Drivers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621792" y="161848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which product categories, trade routes, origin countries, and customs timelines are most strongly correlated with shipment delays.</a:t>
            </a:r>
            <a:endParaRPr lang="en-US" sz="950"/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39319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960120"/>
            <a:ext cx="39319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Shape 9"/>
          <p:cNvSpPr/>
          <p:nvPr/>
        </p:nvSpPr>
        <p:spPr>
          <a:xfrm>
            <a:off x="4965192" y="1069848"/>
            <a:ext cx="457200" cy="457200"/>
          </a:xfrm>
          <a:prstGeom prst="rect">
            <a:avLst/>
          </a:prstGeom>
          <a:solidFill>
            <a:srgbClr val="0F2240"/>
          </a:solidFill>
          <a:ln/>
        </p:spPr>
      </p:sp>
      <p:sp>
        <p:nvSpPr>
          <p:cNvPr id="12" name="Text 10"/>
          <p:cNvSpPr/>
          <p:nvPr/>
        </p:nvSpPr>
        <p:spPr>
          <a:xfrm>
            <a:off x="4965192" y="1069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D9488"/>
                </a:solidFill>
              </a:rPr>
              <a:t>02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5513832" y="108813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Risk by Segment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4965192" y="161848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conditional delay probabilities across all operational dimensions to enable data-driven prioritisation for logistics teams.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39319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880360"/>
            <a:ext cx="39319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" y="2990088"/>
            <a:ext cx="457200" cy="457200"/>
          </a:xfrm>
          <a:prstGeom prst="rect">
            <a:avLst/>
          </a:prstGeom>
          <a:solidFill>
            <a:srgbClr val="0F2240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D9488"/>
                </a:solidFill>
              </a:rPr>
              <a:t>03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1170432" y="300837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Predictive Model</a:t>
            </a:r>
            <a:endParaRPr lang="en-US" sz="1150"/>
          </a:p>
        </p:txBody>
      </p:sp>
      <p:sp>
        <p:nvSpPr>
          <p:cNvPr id="20" name="Text 18"/>
          <p:cNvSpPr/>
          <p:nvPr/>
        </p:nvSpPr>
        <p:spPr>
          <a:xfrm>
            <a:off x="621792" y="353872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machine learning model to predict delay probability for any new shipment before dispatch, enabling proactive intervention.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4800600" y="2880360"/>
            <a:ext cx="39319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880360"/>
            <a:ext cx="393192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Shape 21"/>
          <p:cNvSpPr/>
          <p:nvPr/>
        </p:nvSpPr>
        <p:spPr>
          <a:xfrm>
            <a:off x="4965192" y="2990088"/>
            <a:ext cx="457200" cy="457200"/>
          </a:xfrm>
          <a:prstGeom prst="rect">
            <a:avLst/>
          </a:prstGeom>
          <a:solidFill>
            <a:srgbClr val="0F2240"/>
          </a:solidFill>
          <a:ln/>
        </p:spPr>
      </p:sp>
      <p:sp>
        <p:nvSpPr>
          <p:cNvPr id="24" name="Text 22"/>
          <p:cNvSpPr/>
          <p:nvPr/>
        </p:nvSpPr>
        <p:spPr>
          <a:xfrm>
            <a:off x="4965192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D9488"/>
                </a:solidFill>
              </a:rPr>
              <a:t>04</a:t>
            </a:r>
            <a:endParaRPr lang="en-US" sz="1400"/>
          </a:p>
        </p:txBody>
      </p:sp>
      <p:sp>
        <p:nvSpPr>
          <p:cNvPr id="25" name="Text 23"/>
          <p:cNvSpPr/>
          <p:nvPr/>
        </p:nvSpPr>
        <p:spPr>
          <a:xfrm>
            <a:off x="5513832" y="300837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Actionable Insights</a:t>
            </a:r>
            <a:endParaRPr lang="en-US" sz="1150"/>
          </a:p>
        </p:txBody>
      </p:sp>
      <p:sp>
        <p:nvSpPr>
          <p:cNvPr id="26" name="Text 24"/>
          <p:cNvSpPr/>
          <p:nvPr/>
        </p:nvSpPr>
        <p:spPr>
          <a:xfrm>
            <a:off x="4965192" y="353872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analytical findings into specific, prioritised operational recommendations with measurable expected business impact.</a:t>
            </a:r>
            <a:endParaRPr lang="en-US" sz="950"/>
          </a:p>
        </p:txBody>
      </p:sp>
      <p:sp>
        <p:nvSpPr>
          <p:cNvPr id="27" name="Text 25"/>
          <p:cNvSpPr/>
          <p:nvPr/>
        </p:nvSpPr>
        <p:spPr>
          <a:xfrm>
            <a:off x="813816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</a:rPr>
              <a:t>3 / 15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analytics pipeline from raw shipment data to AI-powered recommendations</a:t>
            </a:r>
            <a:endParaRPr lang="en-US" sz="110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1508760" cy="1508760"/>
          </a:xfrm>
          <a:prstGeom prst="rect">
            <a:avLst/>
          </a:prstGeom>
          <a:solidFill>
            <a:srgbClr val="0F22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88720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Audit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1828800" y="1783080"/>
            <a:ext cx="22860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Shape 5"/>
          <p:cNvSpPr/>
          <p:nvPr/>
        </p:nvSpPr>
        <p:spPr>
          <a:xfrm>
            <a:off x="2057400" y="1188720"/>
            <a:ext cx="1508760" cy="1508760"/>
          </a:xfrm>
          <a:prstGeom prst="rect">
            <a:avLst/>
          </a:prstGeom>
          <a:solidFill>
            <a:srgbClr val="1A34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57400" y="1188720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3566160" y="1783080"/>
            <a:ext cx="22860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Shape 8"/>
          <p:cNvSpPr/>
          <p:nvPr/>
        </p:nvSpPr>
        <p:spPr>
          <a:xfrm>
            <a:off x="3794760" y="1188720"/>
            <a:ext cx="1508760" cy="150876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94760" y="1188720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5303520" y="1783080"/>
            <a:ext cx="22860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3" name="Shape 11"/>
          <p:cNvSpPr/>
          <p:nvPr/>
        </p:nvSpPr>
        <p:spPr>
          <a:xfrm>
            <a:off x="5532120" y="1188720"/>
            <a:ext cx="1508760" cy="1508760"/>
          </a:xfrm>
          <a:prstGeom prst="rect">
            <a:avLst/>
          </a:prstGeom>
          <a:solidFill>
            <a:srgbClr val="1D4ED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32120" y="1188720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7040880" y="1783080"/>
            <a:ext cx="228600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Shape 14"/>
          <p:cNvSpPr/>
          <p:nvPr/>
        </p:nvSpPr>
        <p:spPr>
          <a:xfrm>
            <a:off x="7269480" y="1188720"/>
            <a:ext cx="1508760" cy="150876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69480" y="1188720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457200" y="3063240"/>
            <a:ext cx="1920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063240"/>
            <a:ext cx="192024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12724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000"/>
          </a:p>
          <a:p>
            <a:pPr marL="0" indent="0">
              <a:buNone/>
            </a:pPr>
            <a:r>
              <a:rPr lang="en-US" sz="100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566928" y="3675888"/>
            <a:ext cx="1719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 exact routes, categories &amp; customs windows driving delays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2606040" y="3063240"/>
            <a:ext cx="1920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606040" y="3063240"/>
            <a:ext cx="192024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2715768" y="312724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Risk</a:t>
            </a:r>
            <a:endParaRPr lang="en-US" sz="1000"/>
          </a:p>
          <a:p>
            <a:pPr marL="0" indent="0">
              <a:buNone/>
            </a:pPr>
            <a:r>
              <a:rPr lang="en-US" sz="100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2715768" y="3675888"/>
            <a:ext cx="1719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score for any shipment before it ships</a:t>
            </a:r>
            <a:endParaRPr lang="en-US" sz="900"/>
          </a:p>
        </p:txBody>
      </p:sp>
      <p:sp>
        <p:nvSpPr>
          <p:cNvPr id="26" name="Shape 24"/>
          <p:cNvSpPr/>
          <p:nvPr/>
        </p:nvSpPr>
        <p:spPr>
          <a:xfrm>
            <a:off x="4754880" y="3063240"/>
            <a:ext cx="1920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063240"/>
            <a:ext cx="192024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4864608" y="312724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SQL-Powered</a:t>
            </a:r>
            <a:endParaRPr lang="en-US" sz="1000"/>
          </a:p>
          <a:p>
            <a:pPr marL="0" indent="0">
              <a:buNone/>
            </a:pPr>
            <a:r>
              <a:rPr lang="en-US" sz="100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4864608" y="3675888"/>
            <a:ext cx="1719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Query-ready data model for ongoing operational reporting</a:t>
            </a:r>
            <a:endParaRPr lang="en-US" sz="900"/>
          </a:p>
        </p:txBody>
      </p:sp>
      <p:sp>
        <p:nvSpPr>
          <p:cNvPr id="30" name="Shape 28"/>
          <p:cNvSpPr/>
          <p:nvPr/>
        </p:nvSpPr>
        <p:spPr>
          <a:xfrm>
            <a:off x="6903720" y="3063240"/>
            <a:ext cx="192024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903720" y="3063240"/>
            <a:ext cx="192024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7013448" y="3127248"/>
            <a:ext cx="17190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</a:t>
            </a:r>
            <a:endParaRPr lang="en-US" sz="1000"/>
          </a:p>
          <a:p>
            <a:pPr marL="0" indent="0">
              <a:buNone/>
            </a:pPr>
            <a:r>
              <a:rPr lang="en-US" sz="100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</a:t>
            </a:r>
            <a:endParaRPr lang="en-US" sz="1000"/>
          </a:p>
        </p:txBody>
      </p:sp>
      <p:sp>
        <p:nvSpPr>
          <p:cNvPr id="33" name="Text 31"/>
          <p:cNvSpPr/>
          <p:nvPr/>
        </p:nvSpPr>
        <p:spPr>
          <a:xfrm>
            <a:off x="7013448" y="3675888"/>
            <a:ext cx="17190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AI-generated, route-specific recommendations for logistics teams</a:t>
            </a:r>
            <a:endParaRPr lang="en-US" sz="900"/>
          </a:p>
        </p:txBody>
      </p:sp>
      <p:sp>
        <p:nvSpPr>
          <p:cNvPr id="34" name="Text 32"/>
          <p:cNvSpPr/>
          <p:nvPr/>
        </p:nvSpPr>
        <p:spPr>
          <a:xfrm>
            <a:off x="813816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</a:rPr>
              <a:t>4 / 15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2651760" cy="36576"/>
          </a:xfrm>
          <a:prstGeom prst="rect">
            <a:avLst/>
          </a:prstGeom>
          <a:solidFill>
            <a:srgbClr val="0F224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51560"/>
            <a:ext cx="1280160" cy="292608"/>
          </a:xfrm>
          <a:prstGeom prst="rect">
            <a:avLst/>
          </a:prstGeom>
          <a:solidFill>
            <a:srgbClr val="0F224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Data Layer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21792" y="1463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050"/>
          </a:p>
        </p:txBody>
      </p:sp>
      <p:sp>
        <p:nvSpPr>
          <p:cNvPr id="8" name="Shape 6"/>
          <p:cNvSpPr/>
          <p:nvPr/>
        </p:nvSpPr>
        <p:spPr>
          <a:xfrm>
            <a:off x="3337560" y="96012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960120"/>
            <a:ext cx="2651760" cy="36576"/>
          </a:xfrm>
          <a:prstGeom prst="rect">
            <a:avLst/>
          </a:prstGeom>
          <a:solidFill>
            <a:srgbClr val="1A3461"/>
          </a:solidFill>
          <a:ln/>
        </p:spPr>
      </p:sp>
      <p:sp>
        <p:nvSpPr>
          <p:cNvPr id="10" name="Shape 8"/>
          <p:cNvSpPr/>
          <p:nvPr/>
        </p:nvSpPr>
        <p:spPr>
          <a:xfrm>
            <a:off x="3429000" y="1051560"/>
            <a:ext cx="1280160" cy="292608"/>
          </a:xfrm>
          <a:prstGeom prst="rect">
            <a:avLst/>
          </a:prstGeom>
          <a:solidFill>
            <a:srgbClr val="1A3461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0515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Analytics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3502152" y="1463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6217920" y="96012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960120"/>
            <a:ext cx="265176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Shape 13"/>
          <p:cNvSpPr/>
          <p:nvPr/>
        </p:nvSpPr>
        <p:spPr>
          <a:xfrm>
            <a:off x="6309360" y="1051560"/>
            <a:ext cx="128016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0515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Visualisation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6382512" y="14630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880360"/>
            <a:ext cx="2651760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2971800"/>
            <a:ext cx="1280160" cy="29260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9718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Data Storage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621792" y="33832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(in-memory)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pipeline</a:t>
            </a:r>
            <a:endParaRPr lang="en-US" sz="1050"/>
          </a:p>
        </p:txBody>
      </p:sp>
      <p:sp>
        <p:nvSpPr>
          <p:cNvPr id="23" name="Shape 21"/>
          <p:cNvSpPr/>
          <p:nvPr/>
        </p:nvSpPr>
        <p:spPr>
          <a:xfrm>
            <a:off x="3337560" y="288036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37560" y="2880360"/>
            <a:ext cx="265176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3429000" y="2971800"/>
            <a:ext cx="1280160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29718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AI Integration</a:t>
            </a:r>
            <a:endParaRPr lang="en-US" sz="900"/>
          </a:p>
        </p:txBody>
      </p:sp>
      <p:sp>
        <p:nvSpPr>
          <p:cNvPr id="27" name="Text 25"/>
          <p:cNvSpPr/>
          <p:nvPr/>
        </p:nvSpPr>
        <p:spPr>
          <a:xfrm>
            <a:off x="3502152" y="33832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(Anthropic)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050"/>
          </a:p>
        </p:txBody>
      </p:sp>
      <p:sp>
        <p:nvSpPr>
          <p:cNvPr id="28" name="Shape 26"/>
          <p:cNvSpPr/>
          <p:nvPr/>
        </p:nvSpPr>
        <p:spPr>
          <a:xfrm>
            <a:off x="6217920" y="2880360"/>
            <a:ext cx="26517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7920" y="2880360"/>
            <a:ext cx="2651760" cy="365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0" name="Shape 28"/>
          <p:cNvSpPr/>
          <p:nvPr/>
        </p:nvSpPr>
        <p:spPr>
          <a:xfrm>
            <a:off x="6309360" y="2971800"/>
            <a:ext cx="1280160" cy="2926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29718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FFFFFF"/>
                </a:solidFill>
              </a:rPr>
              <a:t>Collaboration</a:t>
            </a:r>
            <a:endParaRPr lang="en-US" sz="900"/>
          </a:p>
        </p:txBody>
      </p:sp>
      <p:sp>
        <p:nvSpPr>
          <p:cNvPr id="32" name="Text 30"/>
          <p:cNvSpPr/>
          <p:nvPr/>
        </p:nvSpPr>
        <p:spPr>
          <a:xfrm>
            <a:off x="6382512" y="33832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813816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</a:rPr>
              <a:t>5 / 15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 &amp; System Architecture</a:t>
            </a:r>
            <a:endParaRPr lang="en-US" sz="260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1920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914400"/>
            <a:ext cx="1920240" cy="36576"/>
          </a:xfrm>
          <a:prstGeom prst="rect">
            <a:avLst/>
          </a:prstGeom>
          <a:solidFill>
            <a:srgbClr val="0F2240"/>
          </a:solidFill>
          <a:ln/>
        </p:spPr>
      </p:sp>
      <p:sp>
        <p:nvSpPr>
          <p:cNvPr id="5" name="Shape 3"/>
          <p:cNvSpPr/>
          <p:nvPr/>
        </p:nvSpPr>
        <p:spPr>
          <a:xfrm>
            <a:off x="521208" y="1005840"/>
            <a:ext cx="548640" cy="256032"/>
          </a:xfrm>
          <a:prstGeom prst="rect">
            <a:avLst/>
          </a:prstGeom>
          <a:solidFill>
            <a:srgbClr val="0F2240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10058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Phase 1</a:t>
            </a:r>
            <a:endParaRPr lang="en-US" sz="800"/>
          </a:p>
        </p:txBody>
      </p:sp>
      <p:sp>
        <p:nvSpPr>
          <p:cNvPr id="7" name="Text 5"/>
          <p:cNvSpPr/>
          <p:nvPr/>
        </p:nvSpPr>
        <p:spPr>
          <a:xfrm>
            <a:off x="521208" y="135331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521208" y="23042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Anish</a:t>
            </a:r>
          </a:p>
        </p:txBody>
      </p:sp>
      <p:sp>
        <p:nvSpPr>
          <p:cNvPr id="9" name="Shape 7"/>
          <p:cNvSpPr/>
          <p:nvPr/>
        </p:nvSpPr>
        <p:spPr>
          <a:xfrm>
            <a:off x="2560320" y="914400"/>
            <a:ext cx="1920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0" y="914400"/>
            <a:ext cx="1920240" cy="3657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Shape 9"/>
          <p:cNvSpPr/>
          <p:nvPr/>
        </p:nvSpPr>
        <p:spPr>
          <a:xfrm>
            <a:off x="2670048" y="1005840"/>
            <a:ext cx="54864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2670048" y="10058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Phase 2</a:t>
            </a:r>
            <a:endParaRPr lang="en-US" sz="800"/>
          </a:p>
        </p:txBody>
      </p:sp>
      <p:sp>
        <p:nvSpPr>
          <p:cNvPr id="13" name="Text 11"/>
          <p:cNvSpPr/>
          <p:nvPr/>
        </p:nvSpPr>
        <p:spPr>
          <a:xfrm>
            <a:off x="2670048" y="135331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Audit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2670048" y="23042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ea typeface="Calibri"/>
                <a:cs typeface="Calibri"/>
              </a:rPr>
              <a:t>Rushabh</a:t>
            </a:r>
          </a:p>
        </p:txBody>
      </p:sp>
      <p:sp>
        <p:nvSpPr>
          <p:cNvPr id="15" name="Shape 13"/>
          <p:cNvSpPr/>
          <p:nvPr/>
        </p:nvSpPr>
        <p:spPr>
          <a:xfrm>
            <a:off x="4709160" y="914400"/>
            <a:ext cx="1920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914400"/>
            <a:ext cx="1920240" cy="36576"/>
          </a:xfrm>
          <a:prstGeom prst="rect">
            <a:avLst/>
          </a:prstGeom>
          <a:solidFill>
            <a:srgbClr val="1A3461"/>
          </a:solidFill>
          <a:ln/>
        </p:spPr>
      </p:sp>
      <p:sp>
        <p:nvSpPr>
          <p:cNvPr id="17" name="Shape 15"/>
          <p:cNvSpPr/>
          <p:nvPr/>
        </p:nvSpPr>
        <p:spPr>
          <a:xfrm>
            <a:off x="4818888" y="1005840"/>
            <a:ext cx="548640" cy="256032"/>
          </a:xfrm>
          <a:prstGeom prst="rect">
            <a:avLst/>
          </a:prstGeom>
          <a:solidFill>
            <a:srgbClr val="1A3461"/>
          </a:solidFill>
          <a:ln/>
        </p:spPr>
      </p:sp>
      <p:sp>
        <p:nvSpPr>
          <p:cNvPr id="18" name="Text 16"/>
          <p:cNvSpPr/>
          <p:nvPr/>
        </p:nvSpPr>
        <p:spPr>
          <a:xfrm>
            <a:off x="4818888" y="10058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Phase 3</a:t>
            </a:r>
            <a:endParaRPr lang="en-US" sz="800"/>
          </a:p>
        </p:txBody>
      </p:sp>
      <p:sp>
        <p:nvSpPr>
          <p:cNvPr id="19" name="Text 17"/>
          <p:cNvSpPr/>
          <p:nvPr/>
        </p:nvSpPr>
        <p:spPr>
          <a:xfrm>
            <a:off x="4818888" y="135331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4818888" y="23042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Rushabh</a:t>
            </a:r>
          </a:p>
        </p:txBody>
      </p:sp>
      <p:sp>
        <p:nvSpPr>
          <p:cNvPr id="21" name="Shape 19"/>
          <p:cNvSpPr/>
          <p:nvPr/>
        </p:nvSpPr>
        <p:spPr>
          <a:xfrm>
            <a:off x="6858000" y="914400"/>
            <a:ext cx="1920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58000" y="914400"/>
            <a:ext cx="192024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Shape 21"/>
          <p:cNvSpPr/>
          <p:nvPr/>
        </p:nvSpPr>
        <p:spPr>
          <a:xfrm>
            <a:off x="6967728" y="1005840"/>
            <a:ext cx="54864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6967728" y="10058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Phase 4</a:t>
            </a:r>
            <a:endParaRPr lang="en-US" sz="800"/>
          </a:p>
        </p:txBody>
      </p:sp>
      <p:sp>
        <p:nvSpPr>
          <p:cNvPr id="25" name="Text 23"/>
          <p:cNvSpPr/>
          <p:nvPr/>
        </p:nvSpPr>
        <p:spPr>
          <a:xfrm>
            <a:off x="6967728" y="135331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6967728" y="23042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ea typeface="Calibri"/>
                <a:cs typeface="Calibri"/>
              </a:rPr>
              <a:t>Simran</a:t>
            </a:r>
          </a:p>
        </p:txBody>
      </p:sp>
      <p:sp>
        <p:nvSpPr>
          <p:cNvPr id="27" name="Shape 25"/>
          <p:cNvSpPr/>
          <p:nvPr/>
        </p:nvSpPr>
        <p:spPr>
          <a:xfrm>
            <a:off x="411480" y="2834640"/>
            <a:ext cx="1920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1480" y="2834640"/>
            <a:ext cx="1920240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9" name="Shape 27"/>
          <p:cNvSpPr/>
          <p:nvPr/>
        </p:nvSpPr>
        <p:spPr>
          <a:xfrm>
            <a:off x="521208" y="2926080"/>
            <a:ext cx="548640" cy="2560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0" name="Text 28"/>
          <p:cNvSpPr/>
          <p:nvPr/>
        </p:nvSpPr>
        <p:spPr>
          <a:xfrm>
            <a:off x="521208" y="2926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Phase 5</a:t>
            </a:r>
            <a:endParaRPr lang="en-US" sz="800"/>
          </a:p>
        </p:txBody>
      </p:sp>
      <p:sp>
        <p:nvSpPr>
          <p:cNvPr id="31" name="Text 29"/>
          <p:cNvSpPr/>
          <p:nvPr/>
        </p:nvSpPr>
        <p:spPr>
          <a:xfrm>
            <a:off x="521208" y="327355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521208" y="42245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ea typeface="Calibri"/>
                <a:cs typeface="Calibri"/>
              </a:rPr>
              <a:t>Simran</a:t>
            </a:r>
          </a:p>
        </p:txBody>
      </p:sp>
      <p:sp>
        <p:nvSpPr>
          <p:cNvPr id="33" name="Shape 31"/>
          <p:cNvSpPr/>
          <p:nvPr/>
        </p:nvSpPr>
        <p:spPr>
          <a:xfrm>
            <a:off x="2560320" y="2834640"/>
            <a:ext cx="1920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560320" y="2834640"/>
            <a:ext cx="192024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5" name="Shape 33"/>
          <p:cNvSpPr/>
          <p:nvPr/>
        </p:nvSpPr>
        <p:spPr>
          <a:xfrm>
            <a:off x="2670048" y="2926080"/>
            <a:ext cx="548640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2670048" y="2926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Phase 6</a:t>
            </a:r>
            <a:endParaRPr lang="en-US" sz="800"/>
          </a:p>
        </p:txBody>
      </p:sp>
      <p:sp>
        <p:nvSpPr>
          <p:cNvPr id="37" name="Text 35"/>
          <p:cNvSpPr/>
          <p:nvPr/>
        </p:nvSpPr>
        <p:spPr>
          <a:xfrm>
            <a:off x="2670048" y="327355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2670048" y="42245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ea typeface="Calibri"/>
                <a:cs typeface="Calibri"/>
              </a:rPr>
              <a:t>Janani</a:t>
            </a:r>
          </a:p>
        </p:txBody>
      </p:sp>
      <p:sp>
        <p:nvSpPr>
          <p:cNvPr id="39" name="Shape 37"/>
          <p:cNvSpPr/>
          <p:nvPr/>
        </p:nvSpPr>
        <p:spPr>
          <a:xfrm>
            <a:off x="4709160" y="2834640"/>
            <a:ext cx="1920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2834640"/>
            <a:ext cx="1920240" cy="365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1" name="Shape 39"/>
          <p:cNvSpPr/>
          <p:nvPr/>
        </p:nvSpPr>
        <p:spPr>
          <a:xfrm>
            <a:off x="4818888" y="2926080"/>
            <a:ext cx="548640" cy="2560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2" name="Text 40"/>
          <p:cNvSpPr/>
          <p:nvPr/>
        </p:nvSpPr>
        <p:spPr>
          <a:xfrm>
            <a:off x="4818888" y="2926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Phase 7</a:t>
            </a:r>
            <a:endParaRPr lang="en-US" sz="800"/>
          </a:p>
        </p:txBody>
      </p:sp>
      <p:sp>
        <p:nvSpPr>
          <p:cNvPr id="43" name="Text 41"/>
          <p:cNvSpPr/>
          <p:nvPr/>
        </p:nvSpPr>
        <p:spPr>
          <a:xfrm>
            <a:off x="4818888" y="327355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100"/>
          </a:p>
        </p:txBody>
      </p:sp>
      <p:sp>
        <p:nvSpPr>
          <p:cNvPr id="44" name="Text 42"/>
          <p:cNvSpPr/>
          <p:nvPr/>
        </p:nvSpPr>
        <p:spPr>
          <a:xfrm>
            <a:off x="4818888" y="42245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Manav</a:t>
            </a:r>
            <a:endParaRPr lang="en-US" sz="850">
              <a:latin typeface="Calibri"/>
              <a:ea typeface="Calibri"/>
              <a:cs typeface="Calibri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858000" y="2834640"/>
            <a:ext cx="1920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858000" y="2834640"/>
            <a:ext cx="19202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7" name="Shape 45"/>
          <p:cNvSpPr/>
          <p:nvPr/>
        </p:nvSpPr>
        <p:spPr>
          <a:xfrm>
            <a:off x="6967728" y="2926080"/>
            <a:ext cx="54864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6967728" y="29260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Phase 8</a:t>
            </a:r>
            <a:endParaRPr lang="en-US" sz="800"/>
          </a:p>
        </p:txBody>
      </p:sp>
      <p:sp>
        <p:nvSpPr>
          <p:cNvPr id="49" name="Text 47"/>
          <p:cNvSpPr/>
          <p:nvPr/>
        </p:nvSpPr>
        <p:spPr>
          <a:xfrm>
            <a:off x="6967728" y="3273552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1100"/>
          </a:p>
        </p:txBody>
      </p:sp>
      <p:sp>
        <p:nvSpPr>
          <p:cNvPr id="50" name="Text 48"/>
          <p:cNvSpPr/>
          <p:nvPr/>
        </p:nvSpPr>
        <p:spPr>
          <a:xfrm>
            <a:off x="6967728" y="422452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Shubham</a:t>
            </a:r>
          </a:p>
        </p:txBody>
      </p:sp>
      <p:sp>
        <p:nvSpPr>
          <p:cNvPr id="51" name="Text 49"/>
          <p:cNvSpPr/>
          <p:nvPr/>
        </p:nvSpPr>
        <p:spPr>
          <a:xfrm>
            <a:off x="813816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</a:rPr>
              <a:t>7 / 15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&amp; Data Preprocessing</a:t>
            </a:r>
            <a:endParaRPr lang="en-US" sz="260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920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896112"/>
            <a:ext cx="45720" cy="960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05840"/>
            <a:ext cx="17373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728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594360" y="1452982"/>
            <a:ext cx="173736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Shipments</a:t>
            </a:r>
            <a:endParaRPr lang="en-US" sz="950"/>
          </a:p>
        </p:txBody>
      </p:sp>
      <p:sp>
        <p:nvSpPr>
          <p:cNvPr id="7" name="Shape 5"/>
          <p:cNvSpPr/>
          <p:nvPr/>
        </p:nvSpPr>
        <p:spPr>
          <a:xfrm>
            <a:off x="2624328" y="896112"/>
            <a:ext cx="1920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624328" y="896112"/>
            <a:ext cx="45720" cy="960120"/>
          </a:xfrm>
          <a:prstGeom prst="rect">
            <a:avLst/>
          </a:prstGeom>
          <a:solidFill>
            <a:srgbClr val="0F2240"/>
          </a:solidFill>
          <a:ln/>
        </p:spPr>
      </p:sp>
      <p:sp>
        <p:nvSpPr>
          <p:cNvPr id="9" name="Text 7"/>
          <p:cNvSpPr/>
          <p:nvPr/>
        </p:nvSpPr>
        <p:spPr>
          <a:xfrm>
            <a:off x="2761488" y="1005840"/>
            <a:ext cx="17373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600"/>
          </a:p>
        </p:txBody>
      </p:sp>
      <p:sp>
        <p:nvSpPr>
          <p:cNvPr id="10" name="Text 8"/>
          <p:cNvSpPr/>
          <p:nvPr/>
        </p:nvSpPr>
        <p:spPr>
          <a:xfrm>
            <a:off x="2761488" y="1452982"/>
            <a:ext cx="173736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4791456" y="896112"/>
            <a:ext cx="1920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91456" y="896112"/>
            <a:ext cx="45720" cy="9601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4928616" y="1005840"/>
            <a:ext cx="17373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$101.8M</a:t>
            </a:r>
            <a:endParaRPr lang="en-US" sz="2600"/>
          </a:p>
        </p:txBody>
      </p:sp>
      <p:sp>
        <p:nvSpPr>
          <p:cNvPr id="14" name="Text 12"/>
          <p:cNvSpPr/>
          <p:nvPr/>
        </p:nvSpPr>
        <p:spPr>
          <a:xfrm>
            <a:off x="4928616" y="1452982"/>
            <a:ext cx="173736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Trade Value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6958584" y="896112"/>
            <a:ext cx="1920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58584" y="896112"/>
            <a:ext cx="45720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095744" y="1005840"/>
            <a:ext cx="17373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months</a:t>
            </a:r>
            <a:endParaRPr lang="en-US" sz="2600"/>
          </a:p>
        </p:txBody>
      </p:sp>
      <p:sp>
        <p:nvSpPr>
          <p:cNvPr id="18" name="Text 16"/>
          <p:cNvSpPr/>
          <p:nvPr/>
        </p:nvSpPr>
        <p:spPr>
          <a:xfrm>
            <a:off x="7095744" y="1452982"/>
            <a:ext cx="1737360" cy="364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2024 – Dec 2025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457200" y="2057400"/>
            <a:ext cx="4114800" cy="2743200"/>
          </a:xfrm>
          <a:prstGeom prst="rect">
            <a:avLst/>
          </a:prstGeom>
          <a:solidFill>
            <a:srgbClr val="0F22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21488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Issues Found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594360" y="2578608"/>
            <a:ext cx="54864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25786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rows — </a:t>
            </a:r>
            <a:r>
              <a:rPr lang="en-US" sz="90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delivery_status column — missing (NaN)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594360" y="2999232"/>
            <a:ext cx="54864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29992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rows — </a:t>
            </a:r>
            <a:r>
              <a:rPr lang="en-US" sz="90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customs_clearance_time_days — text values ('On-Time'/'Delayed') instead of numeric data</a:t>
            </a:r>
            <a:endParaRPr lang="en-US" sz="950"/>
          </a:p>
        </p:txBody>
      </p:sp>
      <p:sp>
        <p:nvSpPr>
          <p:cNvPr id="25" name="Shape 23"/>
          <p:cNvSpPr/>
          <p:nvPr/>
        </p:nvSpPr>
        <p:spPr>
          <a:xfrm>
            <a:off x="594360" y="3419856"/>
            <a:ext cx="54864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341985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rows — </a:t>
            </a:r>
            <a:r>
              <a:rPr lang="en-US" sz="90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D_Country — numeric strings (e.g. '65000') instead of country name 'Singapore'</a:t>
            </a:r>
            <a:endParaRPr lang="en-US" sz="950"/>
          </a:p>
        </p:txBody>
      </p:sp>
      <p:sp>
        <p:nvSpPr>
          <p:cNvPr id="27" name="Shape 25"/>
          <p:cNvSpPr/>
          <p:nvPr/>
        </p:nvSpPr>
        <p:spPr>
          <a:xfrm>
            <a:off x="594360" y="3840480"/>
            <a:ext cx="54864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38404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— </a:t>
            </a:r>
            <a:r>
              <a:rPr lang="en-US" sz="90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column stored as plain string — not datetime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594360" y="4261104"/>
            <a:ext cx="54864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42611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 — </a:t>
            </a:r>
            <a:r>
              <a:rPr lang="en-US" sz="90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columns — inconsistent whitespace and casing</a:t>
            </a:r>
            <a:endParaRPr lang="en-US" sz="950"/>
          </a:p>
        </p:txBody>
      </p:sp>
      <p:sp>
        <p:nvSpPr>
          <p:cNvPr id="31" name="Shape 29"/>
          <p:cNvSpPr/>
          <p:nvPr/>
        </p:nvSpPr>
        <p:spPr>
          <a:xfrm>
            <a:off x="4800600" y="2057400"/>
            <a:ext cx="3886200" cy="2743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00600" y="2057400"/>
            <a:ext cx="3886200" cy="3657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213055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&amp; Fixes Applied</a:t>
            </a:r>
            <a:endParaRPr lang="en-US" sz="1100"/>
          </a:p>
        </p:txBody>
      </p:sp>
      <p:sp>
        <p:nvSpPr>
          <p:cNvPr id="34" name="Shape 32"/>
          <p:cNvSpPr/>
          <p:nvPr/>
        </p:nvSpPr>
        <p:spPr>
          <a:xfrm>
            <a:off x="4956048" y="2542032"/>
            <a:ext cx="54864" cy="23774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5120640" y="2542032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All 24 corrupted rows are Industrial Equipment Exports to Singapore — a systematic 3-column misalignment during data entry.</a:t>
            </a:r>
            <a:endParaRPr lang="en-US" sz="880"/>
          </a:p>
        </p:txBody>
      </p:sp>
      <p:sp>
        <p:nvSpPr>
          <p:cNvPr id="36" name="Shape 34"/>
          <p:cNvSpPr/>
          <p:nvPr/>
        </p:nvSpPr>
        <p:spPr>
          <a:xfrm>
            <a:off x="4956048" y="2907792"/>
            <a:ext cx="54864" cy="23774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7" name="Text 35"/>
          <p:cNvSpPr/>
          <p:nvPr/>
        </p:nvSpPr>
        <p:spPr>
          <a:xfrm>
            <a:off x="5120640" y="2907792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1: Rescued delivery_status from customs column (text was in the wrong field). Zero values dropped.</a:t>
            </a:r>
            <a:endParaRPr lang="en-US" sz="880"/>
          </a:p>
        </p:txBody>
      </p:sp>
      <p:sp>
        <p:nvSpPr>
          <p:cNvPr id="38" name="Shape 36"/>
          <p:cNvSpPr/>
          <p:nvPr/>
        </p:nvSpPr>
        <p:spPr>
          <a:xfrm>
            <a:off x="4956048" y="3273552"/>
            <a:ext cx="54864" cy="23774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9" name="Text 37"/>
          <p:cNvSpPr/>
          <p:nvPr/>
        </p:nvSpPr>
        <p:spPr>
          <a:xfrm>
            <a:off x="5120640" y="3273552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2: Set D_Country = 'Singapore' (confirmed via destination city column). Country identity fully recovered.</a:t>
            </a:r>
            <a:endParaRPr lang="en-US" sz="880"/>
          </a:p>
        </p:txBody>
      </p:sp>
      <p:sp>
        <p:nvSpPr>
          <p:cNvPr id="40" name="Shape 38"/>
          <p:cNvSpPr/>
          <p:nvPr/>
        </p:nvSpPr>
        <p:spPr>
          <a:xfrm>
            <a:off x="4956048" y="3639312"/>
            <a:ext cx="54864" cy="23774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1" name="Text 39"/>
          <p:cNvSpPr/>
          <p:nvPr/>
        </p:nvSpPr>
        <p:spPr>
          <a:xfrm>
            <a:off x="5120640" y="3639312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3: Converted customs_clearance_time_days to float64. Corrupted entries set to NaN and flagged.</a:t>
            </a:r>
            <a:endParaRPr lang="en-US" sz="880"/>
          </a:p>
        </p:txBody>
      </p:sp>
      <p:sp>
        <p:nvSpPr>
          <p:cNvPr id="42" name="Shape 40"/>
          <p:cNvSpPr/>
          <p:nvPr/>
        </p:nvSpPr>
        <p:spPr>
          <a:xfrm>
            <a:off x="4956048" y="4005072"/>
            <a:ext cx="54864" cy="23774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3" name="Text 41"/>
          <p:cNvSpPr/>
          <p:nvPr/>
        </p:nvSpPr>
        <p:spPr>
          <a:xfrm>
            <a:off x="5120640" y="4005072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4: Parsed date to datetime64. Standardised all text fields. Added data_quality_flag column.</a:t>
            </a:r>
            <a:endParaRPr lang="en-US" sz="880"/>
          </a:p>
        </p:txBody>
      </p:sp>
      <p:sp>
        <p:nvSpPr>
          <p:cNvPr id="44" name="Shape 42"/>
          <p:cNvSpPr/>
          <p:nvPr/>
        </p:nvSpPr>
        <p:spPr>
          <a:xfrm>
            <a:off x="4956048" y="4370832"/>
            <a:ext cx="54864" cy="23774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5" name="Text 43"/>
          <p:cNvSpPr/>
          <p:nvPr/>
        </p:nvSpPr>
        <p:spPr>
          <a:xfrm>
            <a:off x="5120640" y="4370832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728 rows retained. 0 missing delivery_status. All corruption documented and traceable.</a:t>
            </a:r>
            <a:endParaRPr lang="en-US" sz="880"/>
          </a:p>
        </p:txBody>
      </p:sp>
      <p:sp>
        <p:nvSpPr>
          <p:cNvPr id="46" name="Text 44"/>
          <p:cNvSpPr/>
          <p:nvPr/>
        </p:nvSpPr>
        <p:spPr>
          <a:xfrm>
            <a:off x="813816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</a:rPr>
              <a:t>8 / 15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Features &amp; Engineering</a:t>
            </a:r>
            <a:endParaRPr lang="en-US" sz="260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840480" cy="3840480"/>
          </a:xfrm>
          <a:prstGeom prst="rect">
            <a:avLst/>
          </a:prstGeom>
          <a:solidFill>
            <a:srgbClr val="0F22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005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 — 12 Columns</a:t>
            </a:r>
            <a:endParaRPr lang="en-US" sz="110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shipment_id  </a:t>
            </a:r>
            <a:r>
              <a:rPr lang="en-US" sz="90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transaction identifier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 </a:t>
            </a:r>
            <a:r>
              <a:rPr lang="en-US" sz="90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/ Export classification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594360" y="205740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 </a:t>
            </a:r>
            <a:r>
              <a:rPr lang="en-US" sz="90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dispatch date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product_category  </a:t>
            </a:r>
            <a:r>
              <a:rPr lang="en-US" sz="90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Electronics, Textiles, Consumer Goods, Industrial Equipment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594360" y="26974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/ destination  </a:t>
            </a:r>
            <a:r>
              <a:rPr lang="en-US" sz="90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City-level trade endpoints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594360" y="301752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O_Country / D_Country  </a:t>
            </a:r>
            <a:r>
              <a:rPr lang="en-US" sz="90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Country-level origin and destination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594360" y="33375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 </a:t>
            </a:r>
            <a:r>
              <a:rPr lang="en-US" sz="90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shipment value (USD)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594360" y="365760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freight_cost  </a:t>
            </a:r>
            <a:r>
              <a:rPr lang="en-US" sz="90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cost (USD)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594360" y="397764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customs_clearance_time_days  </a:t>
            </a:r>
            <a:r>
              <a:rPr lang="en-US" sz="90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clear customs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594360" y="429768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delivery_status  </a:t>
            </a:r>
            <a:r>
              <a:rPr lang="en-US" sz="90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or Delayed (target variable)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402336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914400"/>
            <a:ext cx="402336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9875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Engineered Features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4800600" y="1417320"/>
            <a:ext cx="54864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956048" y="141732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is_delayed
</a:t>
            </a:r>
            <a:r>
              <a:rPr lang="en-US" sz="8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flag: 1 = Delayed, 0 = On-Time (ML target)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4800600" y="1874520"/>
            <a:ext cx="54864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956048" y="187452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
</a:t>
            </a:r>
            <a:r>
              <a:rPr lang="en-US" sz="8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City-level origin → destination lane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4800600" y="2331720"/>
            <a:ext cx="54864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4956048" y="233172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
</a:t>
            </a:r>
            <a:r>
              <a:rPr lang="en-US" sz="8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Country-level trade corridor</a:t>
            </a:r>
            <a:endParaRPr lang="en-US" sz="950"/>
          </a:p>
        </p:txBody>
      </p:sp>
      <p:sp>
        <p:nvSpPr>
          <p:cNvPr id="24" name="Shape 22"/>
          <p:cNvSpPr/>
          <p:nvPr/>
        </p:nvSpPr>
        <p:spPr>
          <a:xfrm>
            <a:off x="4800600" y="2788920"/>
            <a:ext cx="54864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4956048" y="278892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/ month / quarter
</a:t>
            </a:r>
            <a:r>
              <a:rPr lang="en-US" sz="8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decomposition for trend analysis</a:t>
            </a:r>
            <a:endParaRPr lang="en-US" sz="950"/>
          </a:p>
        </p:txBody>
      </p:sp>
      <p:sp>
        <p:nvSpPr>
          <p:cNvPr id="26" name="Shape 24"/>
          <p:cNvSpPr/>
          <p:nvPr/>
        </p:nvSpPr>
        <p:spPr>
          <a:xfrm>
            <a:off x="4800600" y="3246120"/>
            <a:ext cx="54864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4956048" y="324612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high_value_shipment
</a:t>
            </a:r>
            <a:r>
              <a:rPr lang="en-US" sz="8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Flag: top 25% by declared value</a:t>
            </a:r>
            <a:endParaRPr lang="en-US" sz="950"/>
          </a:p>
        </p:txBody>
      </p:sp>
      <p:sp>
        <p:nvSpPr>
          <p:cNvPr id="28" name="Shape 26"/>
          <p:cNvSpPr/>
          <p:nvPr/>
        </p:nvSpPr>
        <p:spPr>
          <a:xfrm>
            <a:off x="4800600" y="3703320"/>
            <a:ext cx="54864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4956048" y="370332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freight_per_value
</a:t>
            </a:r>
            <a:r>
              <a:rPr lang="en-US" sz="8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ratio: freight cost ÷ shipment value</a:t>
            </a:r>
            <a:endParaRPr lang="en-US" sz="950"/>
          </a:p>
        </p:txBody>
      </p:sp>
      <p:sp>
        <p:nvSpPr>
          <p:cNvPr id="30" name="Shape 28"/>
          <p:cNvSpPr/>
          <p:nvPr/>
        </p:nvSpPr>
        <p:spPr>
          <a:xfrm>
            <a:off x="4800600" y="4160520"/>
            <a:ext cx="54864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4956048" y="416052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clearance_bucket
</a:t>
            </a:r>
            <a:r>
              <a:rPr lang="en-US" sz="8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Medium / High customs clearance tiers</a:t>
            </a:r>
            <a:endParaRPr lang="en-US" sz="950"/>
          </a:p>
        </p:txBody>
      </p:sp>
      <p:sp>
        <p:nvSpPr>
          <p:cNvPr id="32" name="Text 30"/>
          <p:cNvSpPr/>
          <p:nvPr/>
        </p:nvSpPr>
        <p:spPr>
          <a:xfrm>
            <a:off x="813816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</a:rPr>
              <a:t>6 / 15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60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2049622162"/>
              </p:ext>
            </p:extLst>
          </p:nvPr>
        </p:nvGraphicFramePr>
        <p:xfrm>
          <a:off x="232348" y="736392"/>
          <a:ext cx="3412137" cy="16136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>
            <p:extLst>
              <p:ext uri="{D42A27DB-BD31-4B8C-83A1-F6EECF244321}">
                <p14:modId xmlns:p14="http://schemas.microsoft.com/office/powerpoint/2010/main" val="3497628651"/>
              </p:ext>
            </p:extLst>
          </p:nvPr>
        </p:nvGraphicFramePr>
        <p:xfrm>
          <a:off x="3862538" y="732611"/>
          <a:ext cx="2864247" cy="16135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Chart 2"/>
          <p:cNvGraphicFramePr/>
          <p:nvPr>
            <p:extLst>
              <p:ext uri="{D42A27DB-BD31-4B8C-83A1-F6EECF244321}">
                <p14:modId xmlns:p14="http://schemas.microsoft.com/office/powerpoint/2010/main" val="2627238156"/>
              </p:ext>
            </p:extLst>
          </p:nvPr>
        </p:nvGraphicFramePr>
        <p:xfrm>
          <a:off x="457200" y="2566947"/>
          <a:ext cx="4114800" cy="22793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6" name="Shape 1"/>
          <p:cNvSpPr/>
          <p:nvPr/>
        </p:nvSpPr>
        <p:spPr>
          <a:xfrm>
            <a:off x="4754880" y="2566947"/>
            <a:ext cx="3931920" cy="2279373"/>
          </a:xfrm>
          <a:prstGeom prst="rect">
            <a:avLst/>
          </a:prstGeom>
          <a:solidFill>
            <a:srgbClr val="0F22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2"/>
          <p:cNvSpPr/>
          <p:nvPr/>
        </p:nvSpPr>
        <p:spPr>
          <a:xfrm>
            <a:off x="4892040" y="2641821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Key EDA Findings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8" name="Text 3"/>
          <p:cNvSpPr/>
          <p:nvPr/>
        </p:nvSpPr>
        <p:spPr>
          <a:xfrm>
            <a:off x="4892040" y="2950464"/>
            <a:ext cx="3616188" cy="1813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C5D9F1"/>
                </a:solidFill>
                <a:latin typeface="Calibri"/>
                <a:ea typeface="Calibri"/>
                <a:cs typeface="Calibri"/>
              </a:rPr>
              <a:t>Consumer Goods leads all categories at 17.5% delay rate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C5D9F1"/>
                </a:solidFill>
                <a:latin typeface="Calibri"/>
                <a:ea typeface="Calibri"/>
                <a:cs typeface="Calibri"/>
              </a:rPr>
              <a:t>Imports delay 7% more often than Exports — customs asymmetry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C5D9F1"/>
                </a:solidFill>
                <a:latin typeface="Calibri"/>
                <a:ea typeface="Calibri"/>
                <a:cs typeface="Calibri"/>
              </a:rPr>
              <a:t>Higher customs clearance time correlates with higher delay risk</a:t>
            </a:r>
            <a:endParaRPr lang="en-US" sz="12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>
                <a:solidFill>
                  <a:srgbClr val="C5D9F1"/>
                </a:solidFill>
                <a:latin typeface="Calibri"/>
                <a:ea typeface="Calibri"/>
                <a:cs typeface="Calibri"/>
              </a:rPr>
              <a:t>Freight cost = consistently 5% of shipment value across all routes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9" name="Text 4"/>
          <p:cNvSpPr/>
          <p:nvPr/>
        </p:nvSpPr>
        <p:spPr>
          <a:xfrm>
            <a:off x="813816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</a:rPr>
              <a:t>9 / 15</a:t>
            </a:r>
            <a:endParaRPr lang="en-US" sz="900"/>
          </a:p>
        </p:txBody>
      </p:sp>
      <p:pic>
        <p:nvPicPr>
          <p:cNvPr id="10" name="Picture 9" descr="A pie chart with a red triangle and green circle&#10;&#10;AI-generated content may be incorrect.">
            <a:extLst>
              <a:ext uri="{FF2B5EF4-FFF2-40B4-BE49-F238E27FC236}">
                <a16:creationId xmlns:a16="http://schemas.microsoft.com/office/drawing/2014/main" id="{4BF2B6BD-E4C8-B0EF-E991-BE899970A7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0157" y="734875"/>
            <a:ext cx="1787679" cy="16199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8E266FA-90BB-8C72-36E1-F49FAA8D7493}"/>
              </a:ext>
            </a:extLst>
          </p:cNvPr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>
                <a:solidFill>
                  <a:srgbClr val="0F2240"/>
                </a:solidFill>
                <a:ea typeface="+mn-lt"/>
                <a:cs typeface="+mn-lt"/>
              </a:rPr>
              <a:t>Delay Probability Analysis &amp; Predictive Modeling</a:t>
            </a:r>
            <a:endParaRPr lang="en-US" b="1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557EE99-AC7A-86AB-4E16-DF9F82E540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8523595"/>
              </p:ext>
            </p:extLst>
          </p:nvPr>
        </p:nvGraphicFramePr>
        <p:xfrm>
          <a:off x="455414" y="1286947"/>
          <a:ext cx="3452976" cy="2098078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726488">
                  <a:extLst>
                    <a:ext uri="{9D8B030D-6E8A-4147-A177-3AD203B41FA5}">
                      <a16:colId xmlns:a16="http://schemas.microsoft.com/office/drawing/2014/main" val="3309004926"/>
                    </a:ext>
                  </a:extLst>
                </a:gridCol>
                <a:gridCol w="1726488">
                  <a:extLst>
                    <a:ext uri="{9D8B030D-6E8A-4147-A177-3AD203B41FA5}">
                      <a16:colId xmlns:a16="http://schemas.microsoft.com/office/drawing/2014/main" val="1866450868"/>
                    </a:ext>
                  </a:extLst>
                </a:gridCol>
              </a:tblGrid>
              <a:tr h="312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Segment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Delay Probability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861131"/>
                  </a:ext>
                </a:extLst>
              </a:tr>
              <a:tr h="312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Consumer Goods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17.5%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5881823"/>
                  </a:ext>
                </a:extLst>
              </a:tr>
              <a:tr h="312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Imports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16.5%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3376746"/>
                  </a:ext>
                </a:extLst>
              </a:tr>
              <a:tr h="312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Mumbai → Singapore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25.0%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8137653"/>
                  </a:ext>
                </a:extLst>
              </a:tr>
              <a:tr h="312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Singapore Destination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25.0%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2203805"/>
                  </a:ext>
                </a:extLst>
              </a:tr>
              <a:tr h="5370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High Customs Clearance (&gt;4 days)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16.4%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0087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9F0E807-C9DD-A2F3-3454-617F7CF84570}"/>
              </a:ext>
            </a:extLst>
          </p:cNvPr>
          <p:cNvSpPr txBox="1"/>
          <p:nvPr/>
        </p:nvSpPr>
        <p:spPr>
          <a:xfrm>
            <a:off x="357187" y="830461"/>
            <a:ext cx="283071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Delay Probability Highlights</a:t>
            </a:r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2DDC21-8236-1143-10E8-7AAAD88ED91E}"/>
              </a:ext>
            </a:extLst>
          </p:cNvPr>
          <p:cNvSpPr txBox="1"/>
          <p:nvPr/>
        </p:nvSpPr>
        <p:spPr>
          <a:xfrm>
            <a:off x="458454" y="3601187"/>
            <a:ext cx="3450225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Predictive analytics can help logistics teams proactively identify high-risk shipments and improve operational planning.</a:t>
            </a:r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187914D-C8F2-A57B-D329-47D2F0B1CB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707227"/>
              </p:ext>
            </p:extLst>
          </p:nvPr>
        </p:nvGraphicFramePr>
        <p:xfrm>
          <a:off x="4152304" y="1553765"/>
          <a:ext cx="4923676" cy="1597323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549879">
                  <a:extLst>
                    <a:ext uri="{9D8B030D-6E8A-4147-A177-3AD203B41FA5}">
                      <a16:colId xmlns:a16="http://schemas.microsoft.com/office/drawing/2014/main" val="2017535550"/>
                    </a:ext>
                  </a:extLst>
                </a:gridCol>
                <a:gridCol w="3373797">
                  <a:extLst>
                    <a:ext uri="{9D8B030D-6E8A-4147-A177-3AD203B41FA5}">
                      <a16:colId xmlns:a16="http://schemas.microsoft.com/office/drawing/2014/main" val="2123463804"/>
                    </a:ext>
                  </a:extLst>
                </a:gridCol>
              </a:tblGrid>
              <a:tr h="280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solidFill>
                            <a:schemeClr val="tx1"/>
                          </a:solidFill>
                        </a:rPr>
                        <a:t>Main Observation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708369"/>
                  </a:ext>
                </a:extLst>
              </a:tr>
              <a:tr h="658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Achieved high overall accuracy (85%) but failed to correctly identify delayed shipments.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0787506"/>
                  </a:ext>
                </a:extLst>
              </a:tr>
              <a:tr h="6583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Decision 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Detected most delayed shipments effectively (78% recall), making it more suitable for proactive delay prediction.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399981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6A8C94E-77C0-8A14-A7FE-A380EAEE9C4F}"/>
              </a:ext>
            </a:extLst>
          </p:cNvPr>
          <p:cNvSpPr txBox="1"/>
          <p:nvPr/>
        </p:nvSpPr>
        <p:spPr>
          <a:xfrm>
            <a:off x="4063009" y="910828"/>
            <a:ext cx="357187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Predictive Model Results</a:t>
            </a:r>
          </a:p>
          <a:p>
            <a:r>
              <a:rPr lang="en-US" b="1"/>
              <a:t>Model Comparison</a:t>
            </a:r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86C1708D-80FF-2A77-DBDD-55CEC09B3482}"/>
              </a:ext>
            </a:extLst>
          </p:cNvPr>
          <p:cNvSpPr/>
          <p:nvPr/>
        </p:nvSpPr>
        <p:spPr>
          <a:xfrm>
            <a:off x="4067294" y="3388479"/>
            <a:ext cx="4708803" cy="1475702"/>
          </a:xfrm>
          <a:prstGeom prst="rect">
            <a:avLst/>
          </a:prstGeom>
          <a:solidFill>
            <a:srgbClr val="0F22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4CB301AE-1B97-5019-4FCA-89ECEFED5ADB}"/>
              </a:ext>
            </a:extLst>
          </p:cNvPr>
          <p:cNvSpPr/>
          <p:nvPr/>
        </p:nvSpPr>
        <p:spPr>
          <a:xfrm>
            <a:off x="4365189" y="3879151"/>
            <a:ext cx="4303773" cy="831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SzPct val="100000"/>
              <a:buFont typeface="Arial"/>
              <a:buChar char="•"/>
            </a:pPr>
            <a:r>
              <a:rPr lang="en-US" sz="1200">
                <a:solidFill>
                  <a:srgbClr val="C5D9F1"/>
                </a:solidFill>
                <a:latin typeface="Calibri"/>
                <a:ea typeface="Calibri"/>
                <a:cs typeface="Calibri"/>
              </a:rPr>
              <a:t>Decision</a:t>
            </a:r>
            <a:r>
              <a:rPr lang="en-US" sz="1200">
                <a:solidFill>
                  <a:srgbClr val="C5D9F1"/>
                </a:solidFill>
                <a:ea typeface="+mn-lt"/>
                <a:cs typeface="+mn-lt"/>
              </a:rPr>
              <a:t> Tree performed better in identifying shipment delays. </a:t>
            </a:r>
            <a:endParaRPr lang="en-US" sz="12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sz="1200">
                <a:solidFill>
                  <a:srgbClr val="C5D9F1"/>
                </a:solidFill>
                <a:ea typeface="+mn-lt"/>
                <a:cs typeface="+mn-lt"/>
              </a:rPr>
              <a:t>Customs clearance time was the most influential predictive feature.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 sz="1200">
                <a:solidFill>
                  <a:srgbClr val="C5D9F1"/>
                </a:solidFill>
                <a:ea typeface="+mn-lt"/>
                <a:cs typeface="+mn-lt"/>
              </a:rPr>
              <a:t>Trade route and geographical factors also impacted delay probability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342900" indent="-342900">
              <a:spcAft>
                <a:spcPts val="400"/>
              </a:spcAft>
              <a:buSzPct val="100000"/>
              <a:buFont typeface="Arial"/>
              <a:buChar char="•"/>
            </a:pPr>
            <a:endParaRPr lang="en-US" sz="1200">
              <a:solidFill>
                <a:srgbClr val="C5D9F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F02C0810-4051-9134-0AA4-0B47868E5199}"/>
              </a:ext>
            </a:extLst>
          </p:cNvPr>
          <p:cNvSpPr/>
          <p:nvPr/>
        </p:nvSpPr>
        <p:spPr>
          <a:xfrm>
            <a:off x="4365189" y="3490142"/>
            <a:ext cx="2568178" cy="212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Key Findings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63173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data display&#10;&#10;AI-generated content may be incorrect.">
            <a:extLst>
              <a:ext uri="{FF2B5EF4-FFF2-40B4-BE49-F238E27FC236}">
                <a16:creationId xmlns:a16="http://schemas.microsoft.com/office/drawing/2014/main" id="{47392655-0A8F-D808-7654-901C77E31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76" y="586289"/>
            <a:ext cx="8446433" cy="4433165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551A184C-708E-F365-67EF-4040C1B72616}"/>
              </a:ext>
            </a:extLst>
          </p:cNvPr>
          <p:cNvSpPr/>
          <p:nvPr/>
        </p:nvSpPr>
        <p:spPr>
          <a:xfrm>
            <a:off x="332961" y="1152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F2240"/>
                </a:solidFill>
                <a:latin typeface="Calibri"/>
                <a:ea typeface="Calibri"/>
                <a:cs typeface="Calibri"/>
              </a:rPr>
              <a:t>Data Visualization &amp; Insights</a:t>
            </a:r>
            <a:endParaRPr lang="en-US" sz="26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82002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961" y="1152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F2240"/>
                </a:solidFill>
                <a:latin typeface="Calibri"/>
                <a:ea typeface="Calibri"/>
                <a:cs typeface="Calibri"/>
              </a:rPr>
              <a:t>Data Visualization &amp; Insights</a:t>
            </a:r>
            <a:endParaRPr lang="en-US" sz="260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1274871623"/>
              </p:ext>
            </p:extLst>
          </p:nvPr>
        </p:nvGraphicFramePr>
        <p:xfrm>
          <a:off x="330788" y="728110"/>
          <a:ext cx="3971787" cy="19569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>
            <p:extLst>
              <p:ext uri="{D42A27DB-BD31-4B8C-83A1-F6EECF244321}">
                <p14:modId xmlns:p14="http://schemas.microsoft.com/office/powerpoint/2010/main" val="1708924634"/>
              </p:ext>
            </p:extLst>
          </p:nvPr>
        </p:nvGraphicFramePr>
        <p:xfrm>
          <a:off x="4312122" y="736392"/>
          <a:ext cx="2850813" cy="19486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23" name="Group 22">
            <a:extLst>
              <a:ext uri="{FF2B5EF4-FFF2-40B4-BE49-F238E27FC236}">
                <a16:creationId xmlns:a16="http://schemas.microsoft.com/office/drawing/2014/main" id="{2BDF4DE6-B8A5-78EF-314C-B40DB9E5B8E6}"/>
              </a:ext>
            </a:extLst>
          </p:cNvPr>
          <p:cNvGrpSpPr/>
          <p:nvPr/>
        </p:nvGrpSpPr>
        <p:grpSpPr>
          <a:xfrm>
            <a:off x="7174396" y="186193"/>
            <a:ext cx="1845697" cy="1094630"/>
            <a:chOff x="457200" y="3383280"/>
            <a:chExt cx="1920240" cy="1508760"/>
          </a:xfrm>
        </p:grpSpPr>
        <p:sp>
          <p:nvSpPr>
            <p:cNvPr id="5" name="Shape 1"/>
            <p:cNvSpPr/>
            <p:nvPr/>
          </p:nvSpPr>
          <p:spPr>
            <a:xfrm>
              <a:off x="457200" y="3383280"/>
              <a:ext cx="1920240" cy="1508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6" name="Shape 2"/>
            <p:cNvSpPr/>
            <p:nvPr/>
          </p:nvSpPr>
          <p:spPr>
            <a:xfrm>
              <a:off x="457200" y="3383280"/>
              <a:ext cx="45720" cy="1508760"/>
            </a:xfrm>
            <a:prstGeom prst="rect">
              <a:avLst/>
            </a:prstGeom>
            <a:solidFill>
              <a:srgbClr val="DC2626"/>
            </a:solidFill>
            <a:ln/>
          </p:spPr>
        </p:sp>
        <p:sp>
          <p:nvSpPr>
            <p:cNvPr id="7" name="Text 3"/>
            <p:cNvSpPr/>
            <p:nvPr/>
          </p:nvSpPr>
          <p:spPr>
            <a:xfrm>
              <a:off x="594360" y="3493008"/>
              <a:ext cx="1737360" cy="8298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600" b="1">
                  <a:solidFill>
                    <a:srgbClr val="DC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25.0%</a:t>
              </a:r>
              <a:endParaRPr lang="en-US" sz="2600"/>
            </a:p>
          </p:txBody>
        </p:sp>
        <p:sp>
          <p:nvSpPr>
            <p:cNvPr id="8" name="Text 4"/>
            <p:cNvSpPr/>
            <p:nvPr/>
          </p:nvSpPr>
          <p:spPr>
            <a:xfrm>
              <a:off x="594360" y="4258361"/>
              <a:ext cx="1737360" cy="5733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Mumbai → Singapore</a:t>
              </a:r>
              <a:endParaRPr lang="en-US" sz="950"/>
            </a:p>
            <a:p>
              <a:pPr marL="0" indent="0">
                <a:buNone/>
              </a:pPr>
              <a:r>
                <a:rPr lang="en-US" sz="95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Highest-risk single route</a:t>
              </a:r>
              <a:endParaRPr lang="en-US" sz="95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F3604A0-3D8A-1139-238B-DAC759881C35}"/>
              </a:ext>
            </a:extLst>
          </p:cNvPr>
          <p:cNvGrpSpPr/>
          <p:nvPr/>
        </p:nvGrpSpPr>
        <p:grpSpPr>
          <a:xfrm>
            <a:off x="7171480" y="1370606"/>
            <a:ext cx="1845697" cy="1094630"/>
            <a:chOff x="2624328" y="3383280"/>
            <a:chExt cx="1920240" cy="1508760"/>
          </a:xfrm>
        </p:grpSpPr>
        <p:sp>
          <p:nvSpPr>
            <p:cNvPr id="9" name="Shape 5"/>
            <p:cNvSpPr/>
            <p:nvPr/>
          </p:nvSpPr>
          <p:spPr>
            <a:xfrm>
              <a:off x="2624328" y="3383280"/>
              <a:ext cx="1920240" cy="1508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0" name="Shape 6"/>
            <p:cNvSpPr/>
            <p:nvPr/>
          </p:nvSpPr>
          <p:spPr>
            <a:xfrm>
              <a:off x="2624328" y="3383280"/>
              <a:ext cx="45720" cy="1508760"/>
            </a:xfrm>
            <a:prstGeom prst="rect">
              <a:avLst/>
            </a:prstGeom>
            <a:solidFill>
              <a:srgbClr val="DC2626"/>
            </a:solidFill>
            <a:ln/>
          </p:spPr>
        </p:sp>
        <p:sp>
          <p:nvSpPr>
            <p:cNvPr id="11" name="Text 7"/>
            <p:cNvSpPr/>
            <p:nvPr/>
          </p:nvSpPr>
          <p:spPr>
            <a:xfrm>
              <a:off x="2761488" y="3493008"/>
              <a:ext cx="1737360" cy="8298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600" b="1">
                  <a:solidFill>
                    <a:srgbClr val="DC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23.1%</a:t>
              </a:r>
              <a:endParaRPr lang="en-US" sz="2600"/>
            </a:p>
          </p:txBody>
        </p:sp>
        <p:sp>
          <p:nvSpPr>
            <p:cNvPr id="12" name="Text 8"/>
            <p:cNvSpPr/>
            <p:nvPr/>
          </p:nvSpPr>
          <p:spPr>
            <a:xfrm>
              <a:off x="2761488" y="4258361"/>
              <a:ext cx="1737360" cy="5733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UK-bound exports</a:t>
              </a:r>
              <a:endParaRPr lang="en-US" sz="950"/>
            </a:p>
            <a:p>
              <a:pPr marL="0" indent="0">
                <a:buNone/>
              </a:pPr>
              <a:r>
                <a:rPr lang="en-US" sz="95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Consistently above average</a:t>
              </a:r>
              <a:endParaRPr lang="en-US" sz="95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AFBE649-43F6-3773-5591-4F5D892A9ACE}"/>
              </a:ext>
            </a:extLst>
          </p:cNvPr>
          <p:cNvGrpSpPr/>
          <p:nvPr/>
        </p:nvGrpSpPr>
        <p:grpSpPr>
          <a:xfrm>
            <a:off x="7176847" y="2571584"/>
            <a:ext cx="1845697" cy="1094630"/>
            <a:chOff x="4791456" y="3383280"/>
            <a:chExt cx="1920240" cy="1508760"/>
          </a:xfrm>
        </p:grpSpPr>
        <p:sp>
          <p:nvSpPr>
            <p:cNvPr id="13" name="Shape 9"/>
            <p:cNvSpPr/>
            <p:nvPr/>
          </p:nvSpPr>
          <p:spPr>
            <a:xfrm>
              <a:off x="4791456" y="3383280"/>
              <a:ext cx="1920240" cy="1508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4" name="Shape 10"/>
            <p:cNvSpPr/>
            <p:nvPr/>
          </p:nvSpPr>
          <p:spPr>
            <a:xfrm>
              <a:off x="4791456" y="3383280"/>
              <a:ext cx="45720" cy="1508760"/>
            </a:xfrm>
            <a:prstGeom prst="rect">
              <a:avLst/>
            </a:prstGeom>
            <a:solidFill>
              <a:srgbClr val="0D9488"/>
            </a:solidFill>
            <a:ln/>
          </p:spPr>
        </p:sp>
        <p:sp>
          <p:nvSpPr>
            <p:cNvPr id="15" name="Text 11"/>
            <p:cNvSpPr/>
            <p:nvPr/>
          </p:nvSpPr>
          <p:spPr>
            <a:xfrm>
              <a:off x="4928616" y="3493008"/>
              <a:ext cx="1737360" cy="8298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600" b="1">
                  <a:solidFill>
                    <a:srgbClr val="0D94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5%</a:t>
              </a:r>
              <a:endParaRPr lang="en-US" sz="2600"/>
            </a:p>
          </p:txBody>
        </p:sp>
        <p:sp>
          <p:nvSpPr>
            <p:cNvPr id="16" name="Text 12"/>
            <p:cNvSpPr/>
            <p:nvPr/>
          </p:nvSpPr>
          <p:spPr>
            <a:xfrm>
              <a:off x="4928616" y="4258361"/>
              <a:ext cx="1737360" cy="5733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Freight-to-value ratio</a:t>
              </a:r>
              <a:endParaRPr lang="en-US" sz="950"/>
            </a:p>
            <a:p>
              <a:pPr marL="0" indent="0">
                <a:buNone/>
              </a:pPr>
              <a:r>
                <a:rPr lang="en-US" sz="95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Uniform — pricing not a driver</a:t>
              </a:r>
              <a:endParaRPr lang="en-US" sz="95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A2DB03D-0B58-634D-2BEF-D67873502569}"/>
              </a:ext>
            </a:extLst>
          </p:cNvPr>
          <p:cNvGrpSpPr/>
          <p:nvPr/>
        </p:nvGrpSpPr>
        <p:grpSpPr>
          <a:xfrm>
            <a:off x="7173932" y="3772563"/>
            <a:ext cx="1845697" cy="1107552"/>
            <a:chOff x="6958584" y="3383280"/>
            <a:chExt cx="1920240" cy="1645920"/>
          </a:xfrm>
        </p:grpSpPr>
        <p:sp>
          <p:nvSpPr>
            <p:cNvPr id="17" name="Shape 13"/>
            <p:cNvSpPr/>
            <p:nvPr/>
          </p:nvSpPr>
          <p:spPr>
            <a:xfrm>
              <a:off x="6958584" y="3383280"/>
              <a:ext cx="1920240" cy="15087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8" name="Shape 14"/>
            <p:cNvSpPr/>
            <p:nvPr/>
          </p:nvSpPr>
          <p:spPr>
            <a:xfrm>
              <a:off x="6958584" y="3383280"/>
              <a:ext cx="45720" cy="1508760"/>
            </a:xfrm>
            <a:prstGeom prst="rect">
              <a:avLst/>
            </a:prstGeom>
            <a:solidFill>
              <a:srgbClr val="F59E0B"/>
            </a:solidFill>
            <a:ln/>
          </p:spPr>
        </p:sp>
        <p:sp>
          <p:nvSpPr>
            <p:cNvPr id="19" name="Text 15"/>
            <p:cNvSpPr/>
            <p:nvPr/>
          </p:nvSpPr>
          <p:spPr>
            <a:xfrm>
              <a:off x="7095744" y="3493008"/>
              <a:ext cx="1737360" cy="8298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600" b="1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4.9 days</a:t>
              </a:r>
              <a:endParaRPr lang="en-US" sz="2600"/>
            </a:p>
          </p:txBody>
        </p:sp>
        <p:sp>
          <p:nvSpPr>
            <p:cNvPr id="20" name="Text 16"/>
            <p:cNvSpPr/>
            <p:nvPr/>
          </p:nvSpPr>
          <p:spPr>
            <a:xfrm>
              <a:off x="7095744" y="4258361"/>
              <a:ext cx="1737360" cy="5733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5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Avg clearance for delayed</a:t>
              </a:r>
              <a:endParaRPr lang="en-US" sz="950"/>
            </a:p>
            <a:p>
              <a:pPr marL="0" indent="0">
                <a:buNone/>
              </a:pPr>
              <a:r>
                <a:rPr lang="en-US" sz="95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vs 3.6 days for on-time</a:t>
              </a:r>
              <a:endParaRPr lang="en-US" sz="950"/>
            </a:p>
          </p:txBody>
        </p:sp>
        <p:sp>
          <p:nvSpPr>
            <p:cNvPr id="21" name="Text 17"/>
            <p:cNvSpPr/>
            <p:nvPr/>
          </p:nvSpPr>
          <p:spPr>
            <a:xfrm>
              <a:off x="8138160" y="4846320"/>
              <a:ext cx="7315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900">
                  <a:solidFill>
                    <a:srgbClr val="64748B"/>
                  </a:solidFill>
                </a:rPr>
                <a:t>10 / 15</a:t>
              </a:r>
              <a:endParaRPr lang="en-US" sz="900"/>
            </a:p>
          </p:txBody>
        </p:sp>
      </p:grpSp>
      <p:pic>
        <p:nvPicPr>
          <p:cNvPr id="27" name="Picture 26" descr="A graph showing the amount of time&#10;&#10;AI-generated content may be incorrect.">
            <a:extLst>
              <a:ext uri="{FF2B5EF4-FFF2-40B4-BE49-F238E27FC236}">
                <a16:creationId xmlns:a16="http://schemas.microsoft.com/office/drawing/2014/main" id="{AD18DD65-F7FA-DA04-AE8F-D0EBED9F5D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304" y="3122361"/>
            <a:ext cx="6609522" cy="17148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109728" y="521208"/>
            <a:ext cx="8924544" cy="512064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" y="521208"/>
            <a:ext cx="54864" cy="512064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5212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15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650"/>
          </a:p>
        </p:txBody>
      </p:sp>
      <p:sp>
        <p:nvSpPr>
          <p:cNvPr id="9" name="Text 7"/>
          <p:cNvSpPr/>
          <p:nvPr/>
        </p:nvSpPr>
        <p:spPr>
          <a:xfrm>
            <a:off x="228600" y="740664"/>
            <a:ext cx="8705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CA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load the cleaned logistics dataset into an in-memory SQLite database (728 rows) and run 6 business-relevant queries to simulate how this data would be interrogated in a real production environment — uncovering route inefficiencies, freight costs, delay patterns, and high-value shipment risks.</a:t>
            </a:r>
            <a:endParaRPr lang="en-US" sz="800"/>
          </a:p>
        </p:txBody>
      </p:sp>
      <p:sp>
        <p:nvSpPr>
          <p:cNvPr id="10" name="Shape 8"/>
          <p:cNvSpPr/>
          <p:nvPr/>
        </p:nvSpPr>
        <p:spPr>
          <a:xfrm>
            <a:off x="109728" y="1151128"/>
            <a:ext cx="2029968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C"/>
            </a:solidFill>
            <a:prstDash val="solid"/>
          </a:ln>
          <a:effectLst>
            <a:outerShdw blurRad="63500" dist="12700" dir="162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9728" y="1097280"/>
            <a:ext cx="2029968" cy="5029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1188720"/>
            <a:ext cx="219456" cy="21945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75488" y="1170432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/>
              <a:t>Logistics Data Architecture</a:t>
            </a:r>
            <a:endParaRPr lang="en-US" sz="1000"/>
          </a:p>
        </p:txBody>
      </p:sp>
      <p:sp>
        <p:nvSpPr>
          <p:cNvPr id="14" name="Text 11"/>
          <p:cNvSpPr/>
          <p:nvPr/>
        </p:nvSpPr>
        <p:spPr>
          <a:xfrm>
            <a:off x="201168" y="142646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>
                <a:solidFill>
                  <a:srgbClr val="6B8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 table · 728 rows</a:t>
            </a:r>
            <a:endParaRPr lang="en-US" sz="700"/>
          </a:p>
        </p:txBody>
      </p:sp>
      <p:sp>
        <p:nvSpPr>
          <p:cNvPr id="15" name="Shape 12"/>
          <p:cNvSpPr/>
          <p:nvPr/>
        </p:nvSpPr>
        <p:spPr>
          <a:xfrm>
            <a:off x="201168" y="1645920"/>
            <a:ext cx="45720" cy="8229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92608" y="1627632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1E5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750"/>
          </a:p>
        </p:txBody>
      </p:sp>
      <p:sp>
        <p:nvSpPr>
          <p:cNvPr id="17" name="Text 14"/>
          <p:cNvSpPr/>
          <p:nvPr/>
        </p:nvSpPr>
        <p:spPr>
          <a:xfrm>
            <a:off x="310896" y="1810512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shipment_id</a:t>
            </a:r>
            <a:endParaRPr lang="en-US" sz="700"/>
          </a:p>
        </p:txBody>
      </p:sp>
      <p:sp>
        <p:nvSpPr>
          <p:cNvPr id="18" name="Text 15"/>
          <p:cNvSpPr/>
          <p:nvPr/>
        </p:nvSpPr>
        <p:spPr>
          <a:xfrm>
            <a:off x="310896" y="1933956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700"/>
          </a:p>
        </p:txBody>
      </p:sp>
      <p:sp>
        <p:nvSpPr>
          <p:cNvPr id="19" name="Text 16"/>
          <p:cNvSpPr/>
          <p:nvPr/>
        </p:nvSpPr>
        <p:spPr>
          <a:xfrm>
            <a:off x="310896" y="2057400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/ destination</a:t>
            </a:r>
            <a:endParaRPr lang="en-US" sz="700"/>
          </a:p>
        </p:txBody>
      </p:sp>
      <p:sp>
        <p:nvSpPr>
          <p:cNvPr id="20" name="Text 17"/>
          <p:cNvSpPr/>
          <p:nvPr/>
        </p:nvSpPr>
        <p:spPr>
          <a:xfrm>
            <a:off x="310896" y="2180844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O_Country / D_Country</a:t>
            </a:r>
            <a:endParaRPr lang="en-US" sz="700"/>
          </a:p>
        </p:txBody>
      </p:sp>
      <p:sp>
        <p:nvSpPr>
          <p:cNvPr id="21" name="Text 18"/>
          <p:cNvSpPr/>
          <p:nvPr/>
        </p:nvSpPr>
        <p:spPr>
          <a:xfrm>
            <a:off x="310896" y="2304288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product_category</a:t>
            </a:r>
            <a:endParaRPr lang="en-US" sz="700"/>
          </a:p>
        </p:txBody>
      </p:sp>
      <p:sp>
        <p:nvSpPr>
          <p:cNvPr id="22" name="Text 19"/>
          <p:cNvSpPr/>
          <p:nvPr/>
        </p:nvSpPr>
        <p:spPr>
          <a:xfrm>
            <a:off x="310896" y="2427732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delivery_status</a:t>
            </a:r>
            <a:endParaRPr lang="en-US" sz="700"/>
          </a:p>
        </p:txBody>
      </p:sp>
      <p:sp>
        <p:nvSpPr>
          <p:cNvPr id="23" name="Shape 20"/>
          <p:cNvSpPr/>
          <p:nvPr/>
        </p:nvSpPr>
        <p:spPr>
          <a:xfrm>
            <a:off x="201168" y="2743200"/>
            <a:ext cx="45720" cy="822960"/>
          </a:xfrm>
          <a:prstGeom prst="rect">
            <a:avLst/>
          </a:prstGeom>
          <a:solidFill>
            <a:srgbClr val="19A05C"/>
          </a:solidFill>
          <a:ln w="12700">
            <a:solidFill>
              <a:srgbClr val="19A05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92608" y="2724912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1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750"/>
          </a:p>
        </p:txBody>
      </p:sp>
      <p:sp>
        <p:nvSpPr>
          <p:cNvPr id="25" name="Text 22"/>
          <p:cNvSpPr/>
          <p:nvPr/>
        </p:nvSpPr>
        <p:spPr>
          <a:xfrm>
            <a:off x="310896" y="2907792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(INTEGER)</a:t>
            </a:r>
            <a:endParaRPr lang="en-US" sz="700"/>
          </a:p>
        </p:txBody>
      </p:sp>
      <p:sp>
        <p:nvSpPr>
          <p:cNvPr id="26" name="Text 23"/>
          <p:cNvSpPr/>
          <p:nvPr/>
        </p:nvSpPr>
        <p:spPr>
          <a:xfrm>
            <a:off x="310896" y="3031236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freight_cost (REAL)</a:t>
            </a:r>
            <a:endParaRPr lang="en-US" sz="700"/>
          </a:p>
        </p:txBody>
      </p:sp>
      <p:sp>
        <p:nvSpPr>
          <p:cNvPr id="27" name="Text 24"/>
          <p:cNvSpPr/>
          <p:nvPr/>
        </p:nvSpPr>
        <p:spPr>
          <a:xfrm>
            <a:off x="310896" y="3154680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freight_per_value (REAL)</a:t>
            </a:r>
            <a:endParaRPr lang="en-US" sz="700"/>
          </a:p>
        </p:txBody>
      </p:sp>
      <p:sp>
        <p:nvSpPr>
          <p:cNvPr id="28" name="Text 25"/>
          <p:cNvSpPr/>
          <p:nvPr/>
        </p:nvSpPr>
        <p:spPr>
          <a:xfrm>
            <a:off x="310896" y="3278124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customs_clearance_time_days</a:t>
            </a:r>
            <a:endParaRPr lang="en-US" sz="700"/>
          </a:p>
        </p:txBody>
      </p:sp>
      <p:sp>
        <p:nvSpPr>
          <p:cNvPr id="29" name="Shape 26"/>
          <p:cNvSpPr/>
          <p:nvPr/>
        </p:nvSpPr>
        <p:spPr>
          <a:xfrm>
            <a:off x="201168" y="3840480"/>
            <a:ext cx="45720" cy="822960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92608" y="3822192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</a:t>
            </a:r>
            <a:endParaRPr lang="en-US" sz="750"/>
          </a:p>
        </p:txBody>
      </p:sp>
      <p:sp>
        <p:nvSpPr>
          <p:cNvPr id="31" name="Text 28"/>
          <p:cNvSpPr/>
          <p:nvPr/>
        </p:nvSpPr>
        <p:spPr>
          <a:xfrm>
            <a:off x="310896" y="4005072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· month · quarter</a:t>
            </a:r>
            <a:endParaRPr lang="en-US" sz="700"/>
          </a:p>
        </p:txBody>
      </p:sp>
      <p:sp>
        <p:nvSpPr>
          <p:cNvPr id="32" name="Text 29"/>
          <p:cNvSpPr/>
          <p:nvPr/>
        </p:nvSpPr>
        <p:spPr>
          <a:xfrm>
            <a:off x="310896" y="4128516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· lane</a:t>
            </a:r>
            <a:endParaRPr lang="en-US" sz="700"/>
          </a:p>
        </p:txBody>
      </p:sp>
      <p:sp>
        <p:nvSpPr>
          <p:cNvPr id="33" name="Text 30"/>
          <p:cNvSpPr/>
          <p:nvPr/>
        </p:nvSpPr>
        <p:spPr>
          <a:xfrm>
            <a:off x="310896" y="4251960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is_delayed (0/1)</a:t>
            </a:r>
            <a:endParaRPr lang="en-US" sz="700"/>
          </a:p>
        </p:txBody>
      </p:sp>
      <p:sp>
        <p:nvSpPr>
          <p:cNvPr id="34" name="Text 31"/>
          <p:cNvSpPr/>
          <p:nvPr/>
        </p:nvSpPr>
        <p:spPr>
          <a:xfrm>
            <a:off x="310896" y="4375404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high_value_shipment (0/1)</a:t>
            </a:r>
            <a:endParaRPr lang="en-US" sz="700"/>
          </a:p>
        </p:txBody>
      </p:sp>
      <p:sp>
        <p:nvSpPr>
          <p:cNvPr id="35" name="Text 32"/>
          <p:cNvSpPr/>
          <p:nvPr/>
        </p:nvSpPr>
        <p:spPr>
          <a:xfrm>
            <a:off x="310896" y="4498848"/>
            <a:ext cx="1755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clearance_bucket</a:t>
            </a:r>
            <a:endParaRPr lang="en-US" sz="700"/>
          </a:p>
        </p:txBody>
      </p:sp>
      <p:sp>
        <p:nvSpPr>
          <p:cNvPr id="36" name="Shape 33"/>
          <p:cNvSpPr/>
          <p:nvPr/>
        </p:nvSpPr>
        <p:spPr>
          <a:xfrm>
            <a:off x="2240280" y="1151128"/>
            <a:ext cx="3273552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C"/>
            </a:solidFill>
            <a:prstDash val="solid"/>
          </a:ln>
          <a:effectLst>
            <a:outerShdw blurRad="63500" dist="12700" dir="16200000" algn="bl" rotWithShape="0">
              <a:srgbClr val="000000">
                <a:alpha val="9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2231136" y="1097280"/>
            <a:ext cx="3273552" cy="5029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2576" y="1188720"/>
            <a:ext cx="219456" cy="219456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2596896" y="117043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Most Delayed Routes</a:t>
            </a:r>
            <a:endParaRPr lang="en-US" sz="1050"/>
          </a:p>
        </p:txBody>
      </p:sp>
      <p:sp>
        <p:nvSpPr>
          <p:cNvPr id="40" name="Text 36"/>
          <p:cNvSpPr/>
          <p:nvPr/>
        </p:nvSpPr>
        <p:spPr>
          <a:xfrm>
            <a:off x="2322576" y="142646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/>
              <a:t>Average freight cost by product category</a:t>
            </a:r>
          </a:p>
        </p:txBody>
      </p: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8954EEAB-40F5-3914-31DA-E22BA46543EC}"/>
              </a:ext>
            </a:extLst>
          </p:cNvPr>
          <p:cNvGrpSpPr/>
          <p:nvPr/>
        </p:nvGrpSpPr>
        <p:grpSpPr>
          <a:xfrm>
            <a:off x="2267712" y="1645920"/>
            <a:ext cx="3255264" cy="2990088"/>
            <a:chOff x="2322576" y="1920240"/>
            <a:chExt cx="3255264" cy="2990088"/>
          </a:xfrm>
        </p:grpSpPr>
        <p:sp>
          <p:nvSpPr>
            <p:cNvPr id="41" name="Shape 37"/>
            <p:cNvSpPr/>
            <p:nvPr/>
          </p:nvSpPr>
          <p:spPr>
            <a:xfrm>
              <a:off x="2322576" y="1920240"/>
              <a:ext cx="3200400" cy="201168"/>
            </a:xfrm>
            <a:prstGeom prst="rect">
              <a:avLst/>
            </a:prstGeom>
            <a:solidFill>
              <a:srgbClr val="0D1B3E"/>
            </a:solidFill>
            <a:ln w="12700">
              <a:solidFill>
                <a:srgbClr val="0D1B3E"/>
              </a:solidFill>
              <a:prstDash val="solid"/>
            </a:ln>
          </p:spPr>
        </p:sp>
        <p:sp>
          <p:nvSpPr>
            <p:cNvPr id="42" name="Text 38"/>
            <p:cNvSpPr/>
            <p:nvPr/>
          </p:nvSpPr>
          <p:spPr>
            <a:xfrm>
              <a:off x="2377440" y="1929384"/>
              <a:ext cx="1719072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65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ROUTE</a:t>
              </a:r>
              <a:endParaRPr lang="en-US" sz="650"/>
            </a:p>
          </p:txBody>
        </p:sp>
        <p:sp>
          <p:nvSpPr>
            <p:cNvPr id="43" name="Text 39"/>
            <p:cNvSpPr/>
            <p:nvPr/>
          </p:nvSpPr>
          <p:spPr>
            <a:xfrm>
              <a:off x="4096512" y="1929384"/>
              <a:ext cx="502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SHIPS</a:t>
              </a:r>
              <a:endParaRPr lang="en-US" sz="650"/>
            </a:p>
          </p:txBody>
        </p:sp>
        <p:sp>
          <p:nvSpPr>
            <p:cNvPr id="44" name="Text 40"/>
            <p:cNvSpPr/>
            <p:nvPr/>
          </p:nvSpPr>
          <p:spPr>
            <a:xfrm>
              <a:off x="4599432" y="1929384"/>
              <a:ext cx="50292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DELAY</a:t>
              </a:r>
              <a:endParaRPr lang="en-US" sz="650"/>
            </a:p>
          </p:txBody>
        </p:sp>
        <p:sp>
          <p:nvSpPr>
            <p:cNvPr id="45" name="Text 41"/>
            <p:cNvSpPr/>
            <p:nvPr/>
          </p:nvSpPr>
          <p:spPr>
            <a:xfrm>
              <a:off x="5102352" y="1929384"/>
              <a:ext cx="475488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RATE %</a:t>
              </a:r>
              <a:endParaRPr lang="en-US" sz="650"/>
            </a:p>
          </p:txBody>
        </p:sp>
        <p:sp>
          <p:nvSpPr>
            <p:cNvPr id="46" name="Shape 42"/>
            <p:cNvSpPr/>
            <p:nvPr/>
          </p:nvSpPr>
          <p:spPr>
            <a:xfrm>
              <a:off x="2322576" y="2130552"/>
              <a:ext cx="3200400" cy="2103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EC"/>
              </a:solidFill>
              <a:prstDash val="solid"/>
            </a:ln>
          </p:spPr>
        </p:sp>
        <p:sp>
          <p:nvSpPr>
            <p:cNvPr id="47" name="Shape 43"/>
            <p:cNvSpPr/>
            <p:nvPr/>
          </p:nvSpPr>
          <p:spPr>
            <a:xfrm>
              <a:off x="2322576" y="2130552"/>
              <a:ext cx="45720" cy="210312"/>
            </a:xfrm>
            <a:prstGeom prst="rect">
              <a:avLst/>
            </a:prstGeom>
            <a:solidFill>
              <a:srgbClr val="C0392B"/>
            </a:solidFill>
            <a:ln w="12700">
              <a:solidFill>
                <a:srgbClr val="C0392B"/>
              </a:solidFill>
              <a:prstDash val="solid"/>
            </a:ln>
          </p:spPr>
        </p:sp>
        <p:sp>
          <p:nvSpPr>
            <p:cNvPr id="48" name="Text 44"/>
            <p:cNvSpPr/>
            <p:nvPr/>
          </p:nvSpPr>
          <p:spPr>
            <a:xfrm>
              <a:off x="2377440" y="2130552"/>
              <a:ext cx="1719072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5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Mumbai → Singapore</a:t>
              </a:r>
              <a:endParaRPr lang="en-US" sz="750"/>
            </a:p>
          </p:txBody>
        </p:sp>
        <p:sp>
          <p:nvSpPr>
            <p:cNvPr id="49" name="Text 45"/>
            <p:cNvSpPr/>
            <p:nvPr/>
          </p:nvSpPr>
          <p:spPr>
            <a:xfrm>
              <a:off x="4096512" y="2130552"/>
              <a:ext cx="5029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24</a:t>
              </a:r>
              <a:endParaRPr lang="en-US" sz="750"/>
            </a:p>
          </p:txBody>
        </p:sp>
        <p:sp>
          <p:nvSpPr>
            <p:cNvPr id="50" name="Text 46"/>
            <p:cNvSpPr/>
            <p:nvPr/>
          </p:nvSpPr>
          <p:spPr>
            <a:xfrm>
              <a:off x="4599432" y="2130552"/>
              <a:ext cx="5029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</a:t>
              </a:r>
              <a:endParaRPr lang="en-US" sz="750"/>
            </a:p>
          </p:txBody>
        </p:sp>
        <p:sp>
          <p:nvSpPr>
            <p:cNvPr id="51" name="Text 47"/>
            <p:cNvSpPr/>
            <p:nvPr/>
          </p:nvSpPr>
          <p:spPr>
            <a:xfrm>
              <a:off x="5102352" y="2130552"/>
              <a:ext cx="475488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25.0%</a:t>
              </a:r>
              <a:endParaRPr lang="en-US" sz="750"/>
            </a:p>
          </p:txBody>
        </p:sp>
        <p:sp>
          <p:nvSpPr>
            <p:cNvPr id="52" name="Shape 48"/>
            <p:cNvSpPr/>
            <p:nvPr/>
          </p:nvSpPr>
          <p:spPr>
            <a:xfrm>
              <a:off x="2322576" y="2336292"/>
              <a:ext cx="3200400" cy="210312"/>
            </a:xfrm>
            <a:prstGeom prst="rect">
              <a:avLst/>
            </a:prstGeom>
            <a:solidFill>
              <a:srgbClr val="F2F5FB"/>
            </a:solidFill>
            <a:ln w="12700">
              <a:solidFill>
                <a:srgbClr val="D0D8EC"/>
              </a:solidFill>
              <a:prstDash val="solid"/>
            </a:ln>
          </p:spPr>
        </p:sp>
        <p:sp>
          <p:nvSpPr>
            <p:cNvPr id="53" name="Shape 49"/>
            <p:cNvSpPr/>
            <p:nvPr/>
          </p:nvSpPr>
          <p:spPr>
            <a:xfrm>
              <a:off x="2322576" y="2336292"/>
              <a:ext cx="45720" cy="210312"/>
            </a:xfrm>
            <a:prstGeom prst="rect">
              <a:avLst/>
            </a:prstGeom>
            <a:solidFill>
              <a:srgbClr val="E8631A"/>
            </a:solidFill>
            <a:ln w="12700">
              <a:solidFill>
                <a:srgbClr val="E8631A"/>
              </a:solidFill>
              <a:prstDash val="solid"/>
            </a:ln>
          </p:spPr>
        </p:sp>
        <p:sp>
          <p:nvSpPr>
            <p:cNvPr id="54" name="Text 50"/>
            <p:cNvSpPr/>
            <p:nvPr/>
          </p:nvSpPr>
          <p:spPr>
            <a:xfrm>
              <a:off x="2377440" y="2336292"/>
              <a:ext cx="1719072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5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Mumbai → London</a:t>
              </a:r>
              <a:endParaRPr lang="en-US" sz="750"/>
            </a:p>
          </p:txBody>
        </p:sp>
        <p:sp>
          <p:nvSpPr>
            <p:cNvPr id="55" name="Text 51"/>
            <p:cNvSpPr/>
            <p:nvPr/>
          </p:nvSpPr>
          <p:spPr>
            <a:xfrm>
              <a:off x="4096512" y="2336292"/>
              <a:ext cx="5029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E86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26</a:t>
              </a:r>
              <a:endParaRPr lang="en-US" sz="750"/>
            </a:p>
          </p:txBody>
        </p:sp>
        <p:sp>
          <p:nvSpPr>
            <p:cNvPr id="56" name="Text 52"/>
            <p:cNvSpPr/>
            <p:nvPr/>
          </p:nvSpPr>
          <p:spPr>
            <a:xfrm>
              <a:off x="4599432" y="2336292"/>
              <a:ext cx="5029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E86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</a:t>
              </a:r>
              <a:endParaRPr lang="en-US" sz="750"/>
            </a:p>
          </p:txBody>
        </p:sp>
        <p:sp>
          <p:nvSpPr>
            <p:cNvPr id="57" name="Text 53"/>
            <p:cNvSpPr/>
            <p:nvPr/>
          </p:nvSpPr>
          <p:spPr>
            <a:xfrm>
              <a:off x="5102352" y="2336292"/>
              <a:ext cx="475488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E86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23.1%</a:t>
              </a:r>
              <a:endParaRPr lang="en-US" sz="750"/>
            </a:p>
          </p:txBody>
        </p:sp>
        <p:sp>
          <p:nvSpPr>
            <p:cNvPr id="58" name="Shape 54"/>
            <p:cNvSpPr/>
            <p:nvPr/>
          </p:nvSpPr>
          <p:spPr>
            <a:xfrm>
              <a:off x="2322576" y="2542032"/>
              <a:ext cx="3200400" cy="2103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EC"/>
              </a:solidFill>
              <a:prstDash val="solid"/>
            </a:ln>
          </p:spPr>
        </p:sp>
        <p:sp>
          <p:nvSpPr>
            <p:cNvPr id="59" name="Shape 55"/>
            <p:cNvSpPr/>
            <p:nvPr/>
          </p:nvSpPr>
          <p:spPr>
            <a:xfrm>
              <a:off x="2322576" y="2542032"/>
              <a:ext cx="45720" cy="210312"/>
            </a:xfrm>
            <a:prstGeom prst="rect">
              <a:avLst/>
            </a:prstGeom>
            <a:solidFill>
              <a:srgbClr val="E8631A"/>
            </a:solidFill>
            <a:ln w="12700">
              <a:solidFill>
                <a:srgbClr val="E8631A"/>
              </a:solidFill>
              <a:prstDash val="solid"/>
            </a:ln>
          </p:spPr>
        </p:sp>
        <p:sp>
          <p:nvSpPr>
            <p:cNvPr id="60" name="Text 56"/>
            <p:cNvSpPr/>
            <p:nvPr/>
          </p:nvSpPr>
          <p:spPr>
            <a:xfrm>
              <a:off x="2377440" y="2542032"/>
              <a:ext cx="1719072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5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Hamburg → Mumbai</a:t>
              </a:r>
              <a:endParaRPr lang="en-US" sz="750"/>
            </a:p>
          </p:txBody>
        </p:sp>
        <p:sp>
          <p:nvSpPr>
            <p:cNvPr id="61" name="Text 57"/>
            <p:cNvSpPr/>
            <p:nvPr/>
          </p:nvSpPr>
          <p:spPr>
            <a:xfrm>
              <a:off x="4096512" y="2542032"/>
              <a:ext cx="5029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E86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26</a:t>
              </a:r>
              <a:endParaRPr lang="en-US" sz="750"/>
            </a:p>
          </p:txBody>
        </p:sp>
        <p:sp>
          <p:nvSpPr>
            <p:cNvPr id="62" name="Text 58"/>
            <p:cNvSpPr/>
            <p:nvPr/>
          </p:nvSpPr>
          <p:spPr>
            <a:xfrm>
              <a:off x="4599432" y="2542032"/>
              <a:ext cx="5029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E86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</a:t>
              </a:r>
              <a:endParaRPr lang="en-US" sz="750"/>
            </a:p>
          </p:txBody>
        </p:sp>
        <p:sp>
          <p:nvSpPr>
            <p:cNvPr id="63" name="Text 59"/>
            <p:cNvSpPr/>
            <p:nvPr/>
          </p:nvSpPr>
          <p:spPr>
            <a:xfrm>
              <a:off x="5102352" y="2542032"/>
              <a:ext cx="475488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E86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23.1%</a:t>
              </a:r>
              <a:endParaRPr lang="en-US" sz="750"/>
            </a:p>
          </p:txBody>
        </p:sp>
        <p:sp>
          <p:nvSpPr>
            <p:cNvPr id="64" name="Shape 60"/>
            <p:cNvSpPr/>
            <p:nvPr/>
          </p:nvSpPr>
          <p:spPr>
            <a:xfrm>
              <a:off x="2322576" y="2747772"/>
              <a:ext cx="3200400" cy="210312"/>
            </a:xfrm>
            <a:prstGeom prst="rect">
              <a:avLst/>
            </a:prstGeom>
            <a:solidFill>
              <a:srgbClr val="F2F5FB"/>
            </a:solidFill>
            <a:ln w="12700">
              <a:solidFill>
                <a:srgbClr val="D0D8EC"/>
              </a:solidFill>
              <a:prstDash val="solid"/>
            </a:ln>
          </p:spPr>
        </p:sp>
        <p:sp>
          <p:nvSpPr>
            <p:cNvPr id="65" name="Text 61"/>
            <p:cNvSpPr/>
            <p:nvPr/>
          </p:nvSpPr>
          <p:spPr>
            <a:xfrm>
              <a:off x="2377440" y="2747772"/>
              <a:ext cx="1719072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5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Yokohama → Mumbai</a:t>
              </a:r>
              <a:endParaRPr lang="en-US" sz="750"/>
            </a:p>
          </p:txBody>
        </p:sp>
        <p:sp>
          <p:nvSpPr>
            <p:cNvPr id="66" name="Text 62"/>
            <p:cNvSpPr/>
            <p:nvPr/>
          </p:nvSpPr>
          <p:spPr>
            <a:xfrm>
              <a:off x="4096512" y="2747772"/>
              <a:ext cx="5029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24</a:t>
              </a:r>
              <a:endParaRPr lang="en-US" sz="750"/>
            </a:p>
          </p:txBody>
        </p:sp>
        <p:sp>
          <p:nvSpPr>
            <p:cNvPr id="67" name="Text 63"/>
            <p:cNvSpPr/>
            <p:nvPr/>
          </p:nvSpPr>
          <p:spPr>
            <a:xfrm>
              <a:off x="4599432" y="2747772"/>
              <a:ext cx="5029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750"/>
            </a:p>
          </p:txBody>
        </p:sp>
        <p:sp>
          <p:nvSpPr>
            <p:cNvPr id="68" name="Text 64"/>
            <p:cNvSpPr/>
            <p:nvPr/>
          </p:nvSpPr>
          <p:spPr>
            <a:xfrm>
              <a:off x="5102352" y="2747772"/>
              <a:ext cx="475488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16.7%</a:t>
              </a:r>
              <a:endParaRPr lang="en-US" sz="750"/>
            </a:p>
          </p:txBody>
        </p:sp>
        <p:sp>
          <p:nvSpPr>
            <p:cNvPr id="69" name="Shape 65"/>
            <p:cNvSpPr/>
            <p:nvPr/>
          </p:nvSpPr>
          <p:spPr>
            <a:xfrm>
              <a:off x="2322576" y="2953512"/>
              <a:ext cx="3200400" cy="2103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EC"/>
              </a:solidFill>
              <a:prstDash val="solid"/>
            </a:ln>
          </p:spPr>
        </p:sp>
        <p:sp>
          <p:nvSpPr>
            <p:cNvPr id="70" name="Text 66"/>
            <p:cNvSpPr/>
            <p:nvPr/>
          </p:nvSpPr>
          <p:spPr>
            <a:xfrm>
              <a:off x="2377440" y="2953512"/>
              <a:ext cx="1719072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5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Taipei → Mumbai</a:t>
              </a:r>
              <a:endParaRPr lang="en-US" sz="750"/>
            </a:p>
          </p:txBody>
        </p:sp>
        <p:sp>
          <p:nvSpPr>
            <p:cNvPr id="71" name="Text 67"/>
            <p:cNvSpPr/>
            <p:nvPr/>
          </p:nvSpPr>
          <p:spPr>
            <a:xfrm>
              <a:off x="4096512" y="2953512"/>
              <a:ext cx="5029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24</a:t>
              </a:r>
              <a:endParaRPr lang="en-US" sz="750"/>
            </a:p>
          </p:txBody>
        </p:sp>
        <p:sp>
          <p:nvSpPr>
            <p:cNvPr id="72" name="Text 68"/>
            <p:cNvSpPr/>
            <p:nvPr/>
          </p:nvSpPr>
          <p:spPr>
            <a:xfrm>
              <a:off x="4599432" y="2953512"/>
              <a:ext cx="5029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750"/>
            </a:p>
          </p:txBody>
        </p:sp>
        <p:sp>
          <p:nvSpPr>
            <p:cNvPr id="73" name="Text 69"/>
            <p:cNvSpPr/>
            <p:nvPr/>
          </p:nvSpPr>
          <p:spPr>
            <a:xfrm>
              <a:off x="5102352" y="2953512"/>
              <a:ext cx="475488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16.7%</a:t>
              </a:r>
              <a:endParaRPr lang="en-US" sz="750"/>
            </a:p>
          </p:txBody>
        </p:sp>
        <p:sp>
          <p:nvSpPr>
            <p:cNvPr id="74" name="Shape 70"/>
            <p:cNvSpPr/>
            <p:nvPr/>
          </p:nvSpPr>
          <p:spPr>
            <a:xfrm>
              <a:off x="2322576" y="3159252"/>
              <a:ext cx="3200400" cy="210312"/>
            </a:xfrm>
            <a:prstGeom prst="rect">
              <a:avLst/>
            </a:prstGeom>
            <a:solidFill>
              <a:srgbClr val="F2F5FB"/>
            </a:solidFill>
            <a:ln w="12700">
              <a:solidFill>
                <a:srgbClr val="D0D8EC"/>
              </a:solidFill>
              <a:prstDash val="solid"/>
            </a:ln>
          </p:spPr>
        </p:sp>
        <p:sp>
          <p:nvSpPr>
            <p:cNvPr id="75" name="Text 71"/>
            <p:cNvSpPr/>
            <p:nvPr/>
          </p:nvSpPr>
          <p:spPr>
            <a:xfrm>
              <a:off x="2377440" y="3159252"/>
              <a:ext cx="1719072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5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Seoul → Mumbai</a:t>
              </a:r>
              <a:endParaRPr lang="en-US" sz="750"/>
            </a:p>
          </p:txBody>
        </p:sp>
        <p:sp>
          <p:nvSpPr>
            <p:cNvPr id="76" name="Text 72"/>
            <p:cNvSpPr/>
            <p:nvPr/>
          </p:nvSpPr>
          <p:spPr>
            <a:xfrm>
              <a:off x="4096512" y="3159252"/>
              <a:ext cx="5029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24</a:t>
              </a:r>
              <a:endParaRPr lang="en-US" sz="750"/>
            </a:p>
          </p:txBody>
        </p:sp>
        <p:sp>
          <p:nvSpPr>
            <p:cNvPr id="77" name="Text 73"/>
            <p:cNvSpPr/>
            <p:nvPr/>
          </p:nvSpPr>
          <p:spPr>
            <a:xfrm>
              <a:off x="4599432" y="3159252"/>
              <a:ext cx="5029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750"/>
            </a:p>
          </p:txBody>
        </p:sp>
        <p:sp>
          <p:nvSpPr>
            <p:cNvPr id="78" name="Text 74"/>
            <p:cNvSpPr/>
            <p:nvPr/>
          </p:nvSpPr>
          <p:spPr>
            <a:xfrm>
              <a:off x="5102352" y="3159252"/>
              <a:ext cx="475488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16.7%</a:t>
              </a:r>
              <a:endParaRPr lang="en-US" sz="750"/>
            </a:p>
          </p:txBody>
        </p:sp>
        <p:sp>
          <p:nvSpPr>
            <p:cNvPr id="79" name="Shape 75"/>
            <p:cNvSpPr/>
            <p:nvPr/>
          </p:nvSpPr>
          <p:spPr>
            <a:xfrm>
              <a:off x="2322576" y="3364992"/>
              <a:ext cx="3200400" cy="2103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EC"/>
              </a:solidFill>
              <a:prstDash val="solid"/>
            </a:ln>
          </p:spPr>
        </p:sp>
        <p:sp>
          <p:nvSpPr>
            <p:cNvPr id="80" name="Text 76"/>
            <p:cNvSpPr/>
            <p:nvPr/>
          </p:nvSpPr>
          <p:spPr>
            <a:xfrm>
              <a:off x="2377440" y="3364992"/>
              <a:ext cx="1719072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5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SF → Mumbai</a:t>
              </a:r>
              <a:endParaRPr lang="en-US" sz="750"/>
            </a:p>
          </p:txBody>
        </p:sp>
        <p:sp>
          <p:nvSpPr>
            <p:cNvPr id="81" name="Text 77"/>
            <p:cNvSpPr/>
            <p:nvPr/>
          </p:nvSpPr>
          <p:spPr>
            <a:xfrm>
              <a:off x="4096512" y="3364992"/>
              <a:ext cx="5029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24</a:t>
              </a:r>
              <a:endParaRPr lang="en-US" sz="750"/>
            </a:p>
          </p:txBody>
        </p:sp>
        <p:sp>
          <p:nvSpPr>
            <p:cNvPr id="82" name="Text 78"/>
            <p:cNvSpPr/>
            <p:nvPr/>
          </p:nvSpPr>
          <p:spPr>
            <a:xfrm>
              <a:off x="4599432" y="3364992"/>
              <a:ext cx="5029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750"/>
            </a:p>
          </p:txBody>
        </p:sp>
        <p:sp>
          <p:nvSpPr>
            <p:cNvPr id="83" name="Text 79"/>
            <p:cNvSpPr/>
            <p:nvPr/>
          </p:nvSpPr>
          <p:spPr>
            <a:xfrm>
              <a:off x="5102352" y="3364992"/>
              <a:ext cx="475488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16.7%</a:t>
              </a:r>
              <a:endParaRPr lang="en-US" sz="750"/>
            </a:p>
          </p:txBody>
        </p:sp>
        <p:sp>
          <p:nvSpPr>
            <p:cNvPr id="84" name="Shape 80"/>
            <p:cNvSpPr/>
            <p:nvPr/>
          </p:nvSpPr>
          <p:spPr>
            <a:xfrm>
              <a:off x="2322576" y="3570732"/>
              <a:ext cx="3200400" cy="210312"/>
            </a:xfrm>
            <a:prstGeom prst="rect">
              <a:avLst/>
            </a:prstGeom>
            <a:solidFill>
              <a:srgbClr val="F2F5FB"/>
            </a:solidFill>
            <a:ln w="12700">
              <a:solidFill>
                <a:srgbClr val="D0D8EC"/>
              </a:solidFill>
              <a:prstDash val="solid"/>
            </a:ln>
          </p:spPr>
        </p:sp>
        <p:sp>
          <p:nvSpPr>
            <p:cNvPr id="85" name="Text 81"/>
            <p:cNvSpPr/>
            <p:nvPr/>
          </p:nvSpPr>
          <p:spPr>
            <a:xfrm>
              <a:off x="2377440" y="3570732"/>
              <a:ext cx="1719072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5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Mumbai → Sydney</a:t>
              </a:r>
              <a:endParaRPr lang="en-US" sz="750"/>
            </a:p>
          </p:txBody>
        </p:sp>
        <p:sp>
          <p:nvSpPr>
            <p:cNvPr id="86" name="Text 82"/>
            <p:cNvSpPr/>
            <p:nvPr/>
          </p:nvSpPr>
          <p:spPr>
            <a:xfrm>
              <a:off x="4096512" y="3570732"/>
              <a:ext cx="5029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24</a:t>
              </a:r>
              <a:endParaRPr lang="en-US" sz="750"/>
            </a:p>
          </p:txBody>
        </p:sp>
        <p:sp>
          <p:nvSpPr>
            <p:cNvPr id="87" name="Text 83"/>
            <p:cNvSpPr/>
            <p:nvPr/>
          </p:nvSpPr>
          <p:spPr>
            <a:xfrm>
              <a:off x="4599432" y="3570732"/>
              <a:ext cx="5029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750"/>
            </a:p>
          </p:txBody>
        </p:sp>
        <p:sp>
          <p:nvSpPr>
            <p:cNvPr id="88" name="Text 84"/>
            <p:cNvSpPr/>
            <p:nvPr/>
          </p:nvSpPr>
          <p:spPr>
            <a:xfrm>
              <a:off x="5102352" y="3570732"/>
              <a:ext cx="475488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16.7%</a:t>
              </a:r>
              <a:endParaRPr lang="en-US" sz="750"/>
            </a:p>
          </p:txBody>
        </p:sp>
        <p:sp>
          <p:nvSpPr>
            <p:cNvPr id="89" name="Shape 85"/>
            <p:cNvSpPr/>
            <p:nvPr/>
          </p:nvSpPr>
          <p:spPr>
            <a:xfrm>
              <a:off x="2322576" y="3776472"/>
              <a:ext cx="3200400" cy="21031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0D8EC"/>
              </a:solidFill>
              <a:prstDash val="solid"/>
            </a:ln>
          </p:spPr>
        </p:sp>
        <p:sp>
          <p:nvSpPr>
            <p:cNvPr id="90" name="Text 86"/>
            <p:cNvSpPr/>
            <p:nvPr/>
          </p:nvSpPr>
          <p:spPr>
            <a:xfrm>
              <a:off x="2377440" y="3776472"/>
              <a:ext cx="1719072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5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Mumbai → Rio</a:t>
              </a:r>
              <a:endParaRPr lang="en-US" sz="750"/>
            </a:p>
          </p:txBody>
        </p:sp>
        <p:sp>
          <p:nvSpPr>
            <p:cNvPr id="91" name="Text 87"/>
            <p:cNvSpPr/>
            <p:nvPr/>
          </p:nvSpPr>
          <p:spPr>
            <a:xfrm>
              <a:off x="4096512" y="3776472"/>
              <a:ext cx="5029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24</a:t>
              </a:r>
              <a:endParaRPr lang="en-US" sz="750"/>
            </a:p>
          </p:txBody>
        </p:sp>
        <p:sp>
          <p:nvSpPr>
            <p:cNvPr id="92" name="Text 88"/>
            <p:cNvSpPr/>
            <p:nvPr/>
          </p:nvSpPr>
          <p:spPr>
            <a:xfrm>
              <a:off x="4599432" y="3776472"/>
              <a:ext cx="5029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750"/>
            </a:p>
          </p:txBody>
        </p:sp>
        <p:sp>
          <p:nvSpPr>
            <p:cNvPr id="93" name="Text 89"/>
            <p:cNvSpPr/>
            <p:nvPr/>
          </p:nvSpPr>
          <p:spPr>
            <a:xfrm>
              <a:off x="5102352" y="3776472"/>
              <a:ext cx="475488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16.7%</a:t>
              </a:r>
              <a:endParaRPr lang="en-US" sz="750"/>
            </a:p>
          </p:txBody>
        </p:sp>
        <p:sp>
          <p:nvSpPr>
            <p:cNvPr id="94" name="Shape 90"/>
            <p:cNvSpPr/>
            <p:nvPr/>
          </p:nvSpPr>
          <p:spPr>
            <a:xfrm>
              <a:off x="2322576" y="3982212"/>
              <a:ext cx="3200400" cy="210312"/>
            </a:xfrm>
            <a:prstGeom prst="rect">
              <a:avLst/>
            </a:prstGeom>
            <a:solidFill>
              <a:srgbClr val="F2F5FB"/>
            </a:solidFill>
            <a:ln w="12700">
              <a:solidFill>
                <a:srgbClr val="D0D8EC"/>
              </a:solidFill>
              <a:prstDash val="solid"/>
            </a:ln>
          </p:spPr>
        </p:sp>
        <p:sp>
          <p:nvSpPr>
            <p:cNvPr id="95" name="Text 91"/>
            <p:cNvSpPr/>
            <p:nvPr/>
          </p:nvSpPr>
          <p:spPr>
            <a:xfrm>
              <a:off x="2377440" y="3982212"/>
              <a:ext cx="1719072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75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Mumbai → Mexico</a:t>
              </a:r>
              <a:endParaRPr lang="en-US" sz="750"/>
            </a:p>
          </p:txBody>
        </p:sp>
        <p:sp>
          <p:nvSpPr>
            <p:cNvPr id="96" name="Text 92"/>
            <p:cNvSpPr/>
            <p:nvPr/>
          </p:nvSpPr>
          <p:spPr>
            <a:xfrm>
              <a:off x="4096512" y="3982212"/>
              <a:ext cx="5029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24</a:t>
              </a:r>
              <a:endParaRPr lang="en-US" sz="750"/>
            </a:p>
          </p:txBody>
        </p:sp>
        <p:sp>
          <p:nvSpPr>
            <p:cNvPr id="97" name="Text 93"/>
            <p:cNvSpPr/>
            <p:nvPr/>
          </p:nvSpPr>
          <p:spPr>
            <a:xfrm>
              <a:off x="4599432" y="3982212"/>
              <a:ext cx="50292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750"/>
            </a:p>
          </p:txBody>
        </p:sp>
        <p:sp>
          <p:nvSpPr>
            <p:cNvPr id="98" name="Text 94"/>
            <p:cNvSpPr/>
            <p:nvPr/>
          </p:nvSpPr>
          <p:spPr>
            <a:xfrm>
              <a:off x="5102352" y="3982212"/>
              <a:ext cx="475488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16.7%</a:t>
              </a:r>
              <a:endParaRPr lang="en-US" sz="750"/>
            </a:p>
          </p:txBody>
        </p:sp>
        <p:sp>
          <p:nvSpPr>
            <p:cNvPr id="99" name="Shape 95"/>
            <p:cNvSpPr/>
            <p:nvPr/>
          </p:nvSpPr>
          <p:spPr>
            <a:xfrm>
              <a:off x="2322576" y="4197096"/>
              <a:ext cx="3200400" cy="713232"/>
            </a:xfrm>
            <a:prstGeom prst="rect">
              <a:avLst/>
            </a:prstGeom>
            <a:solidFill>
              <a:srgbClr val="FFF3EC"/>
            </a:solidFill>
            <a:ln w="12700">
              <a:solidFill>
                <a:srgbClr val="F0C8A8"/>
              </a:solidFill>
              <a:prstDash val="solid"/>
            </a:ln>
          </p:spPr>
        </p:sp>
        <p:sp>
          <p:nvSpPr>
            <p:cNvPr id="101" name="Text 97"/>
            <p:cNvSpPr/>
            <p:nvPr/>
          </p:nvSpPr>
          <p:spPr>
            <a:xfrm>
              <a:off x="2395728" y="4389120"/>
              <a:ext cx="3054096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50">
                  <a:solidFill>
                    <a:srgbClr val="2C4A7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Mumbai is central to the worst-performing routes. Singapore (25%) and London/Hamburg (23.1%) dominate delay counts. Root causes: customs congestion, carrier inefficiency, port bottlenecks. Action: prioritize alternate routing &amp; SLA monitoring.</a:t>
              </a:r>
              <a:endParaRPr lang="en-US" sz="750"/>
            </a:p>
          </p:txBody>
        </p:sp>
      </p:grpSp>
      <p:sp>
        <p:nvSpPr>
          <p:cNvPr id="102" name="Shape 98"/>
          <p:cNvSpPr/>
          <p:nvPr/>
        </p:nvSpPr>
        <p:spPr>
          <a:xfrm>
            <a:off x="5596128" y="1097280"/>
            <a:ext cx="3438144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C"/>
            </a:solidFill>
            <a:prstDash val="solid"/>
          </a:ln>
          <a:effectLst>
            <a:outerShdw blurRad="63500" dist="12700" dir="162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3" name="Shape 99"/>
          <p:cNvSpPr/>
          <p:nvPr/>
        </p:nvSpPr>
        <p:spPr>
          <a:xfrm>
            <a:off x="5596128" y="1097280"/>
            <a:ext cx="3438144" cy="50292"/>
          </a:xfrm>
          <a:prstGeom prst="rect">
            <a:avLst/>
          </a:prstGeom>
          <a:solidFill>
            <a:srgbClr val="19A05C"/>
          </a:solidFill>
          <a:ln w="12700">
            <a:solidFill>
              <a:srgbClr val="19A05C"/>
            </a:solidFill>
            <a:prstDash val="solid"/>
          </a:ln>
        </p:spPr>
      </p:sp>
      <p:pic>
        <p:nvPicPr>
          <p:cNvPr id="10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7568" y="1188720"/>
            <a:ext cx="219456" cy="219456"/>
          </a:xfrm>
          <a:prstGeom prst="rect">
            <a:avLst/>
          </a:prstGeom>
        </p:spPr>
      </p:pic>
      <p:sp>
        <p:nvSpPr>
          <p:cNvPr id="105" name="Text 100"/>
          <p:cNvSpPr/>
          <p:nvPr/>
        </p:nvSpPr>
        <p:spPr>
          <a:xfrm>
            <a:off x="5961888" y="1170432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Freight Cost by Product Category</a:t>
            </a:r>
            <a:endParaRPr lang="en-US" sz="1000"/>
          </a:p>
        </p:txBody>
      </p:sp>
      <p:sp>
        <p:nvSpPr>
          <p:cNvPr id="106" name="Text 101"/>
          <p:cNvSpPr/>
          <p:nvPr/>
        </p:nvSpPr>
        <p:spPr>
          <a:xfrm>
            <a:off x="5687568" y="1426464"/>
            <a:ext cx="3273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Industrial Equipment shipments generate disproportionately high freight costs, creating margin pressure and optimization opportunities in carrier contracts and shipment planning.</a:t>
            </a:r>
            <a:endParaRPr lang="en-US" sz="5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7" name="Shape 102"/>
          <p:cNvSpPr/>
          <p:nvPr/>
        </p:nvSpPr>
        <p:spPr>
          <a:xfrm>
            <a:off x="5687568" y="1682496"/>
            <a:ext cx="3310128" cy="2011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8" name="Text 103"/>
          <p:cNvSpPr/>
          <p:nvPr/>
        </p:nvSpPr>
        <p:spPr>
          <a:xfrm>
            <a:off x="5742432" y="16916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650"/>
          </a:p>
        </p:txBody>
      </p:sp>
      <p:sp>
        <p:nvSpPr>
          <p:cNvPr id="110" name="Text 105"/>
          <p:cNvSpPr/>
          <p:nvPr/>
        </p:nvSpPr>
        <p:spPr>
          <a:xfrm>
            <a:off x="7434072" y="1691640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FREIGHT</a:t>
            </a:r>
            <a:endParaRPr lang="en-US" sz="650"/>
          </a:p>
        </p:txBody>
      </p:sp>
      <p:sp>
        <p:nvSpPr>
          <p:cNvPr id="111" name="Text 106"/>
          <p:cNvSpPr/>
          <p:nvPr/>
        </p:nvSpPr>
        <p:spPr>
          <a:xfrm>
            <a:off x="8129016" y="1691640"/>
            <a:ext cx="667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VALUE</a:t>
            </a:r>
            <a:endParaRPr lang="en-US" sz="650"/>
          </a:p>
        </p:txBody>
      </p:sp>
      <p:sp>
        <p:nvSpPr>
          <p:cNvPr id="112" name="Text 107"/>
          <p:cNvSpPr/>
          <p:nvPr/>
        </p:nvSpPr>
        <p:spPr>
          <a:xfrm>
            <a:off x="8750808" y="16916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</a:t>
            </a:r>
            <a:endParaRPr lang="en-US" sz="650"/>
          </a:p>
        </p:txBody>
      </p:sp>
      <p:sp>
        <p:nvSpPr>
          <p:cNvPr id="113" name="Shape 108"/>
          <p:cNvSpPr/>
          <p:nvPr/>
        </p:nvSpPr>
        <p:spPr>
          <a:xfrm>
            <a:off x="5687568" y="1892808"/>
            <a:ext cx="3310128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C"/>
            </a:solidFill>
            <a:prstDash val="solid"/>
          </a:ln>
        </p:spPr>
      </p:sp>
      <p:sp>
        <p:nvSpPr>
          <p:cNvPr id="114" name="Shape 109"/>
          <p:cNvSpPr/>
          <p:nvPr/>
        </p:nvSpPr>
        <p:spPr>
          <a:xfrm>
            <a:off x="5687568" y="1892808"/>
            <a:ext cx="45720" cy="2103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5" name="Text 110"/>
          <p:cNvSpPr/>
          <p:nvPr/>
        </p:nvSpPr>
        <p:spPr>
          <a:xfrm>
            <a:off x="5742432" y="1892808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Equip.</a:t>
            </a:r>
            <a:endParaRPr lang="en-US" sz="750"/>
          </a:p>
        </p:txBody>
      </p:sp>
      <p:sp>
        <p:nvSpPr>
          <p:cNvPr id="117" name="Text 112"/>
          <p:cNvSpPr/>
          <p:nvPr/>
        </p:nvSpPr>
        <p:spPr>
          <a:xfrm>
            <a:off x="7434072" y="1892808"/>
            <a:ext cx="694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$10,487</a:t>
            </a:r>
            <a:endParaRPr lang="en-US" sz="750"/>
          </a:p>
        </p:txBody>
      </p:sp>
      <p:sp>
        <p:nvSpPr>
          <p:cNvPr id="118" name="Text 113"/>
          <p:cNvSpPr/>
          <p:nvPr/>
        </p:nvSpPr>
        <p:spPr>
          <a:xfrm>
            <a:off x="8129016" y="1892808"/>
            <a:ext cx="667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$210,311</a:t>
            </a:r>
            <a:endParaRPr lang="en-US" sz="750"/>
          </a:p>
        </p:txBody>
      </p:sp>
      <p:sp>
        <p:nvSpPr>
          <p:cNvPr id="119" name="Text 114"/>
          <p:cNvSpPr/>
          <p:nvPr/>
        </p:nvSpPr>
        <p:spPr>
          <a:xfrm>
            <a:off x="8750808" y="1879092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0.043</a:t>
            </a:r>
            <a:endParaRPr lang="en-US" sz="750"/>
          </a:p>
        </p:txBody>
      </p:sp>
      <p:sp>
        <p:nvSpPr>
          <p:cNvPr id="120" name="Shape 115"/>
          <p:cNvSpPr/>
          <p:nvPr/>
        </p:nvSpPr>
        <p:spPr>
          <a:xfrm>
            <a:off x="5687568" y="2098548"/>
            <a:ext cx="3310128" cy="210312"/>
          </a:xfrm>
          <a:prstGeom prst="rect">
            <a:avLst/>
          </a:prstGeom>
          <a:solidFill>
            <a:srgbClr val="F2F5FB"/>
          </a:solidFill>
          <a:ln w="12700">
            <a:solidFill>
              <a:srgbClr val="D0D8EC"/>
            </a:solidFill>
            <a:prstDash val="solid"/>
          </a:ln>
        </p:spPr>
      </p:sp>
      <p:sp>
        <p:nvSpPr>
          <p:cNvPr id="121" name="Shape 116"/>
          <p:cNvSpPr/>
          <p:nvPr/>
        </p:nvSpPr>
        <p:spPr>
          <a:xfrm>
            <a:off x="5687568" y="2098548"/>
            <a:ext cx="45720" cy="210312"/>
          </a:xfrm>
          <a:prstGeom prst="rect">
            <a:avLst/>
          </a:prstGeom>
          <a:solidFill>
            <a:srgbClr val="E8631A"/>
          </a:solidFill>
          <a:ln w="12700">
            <a:solidFill>
              <a:srgbClr val="E8631A"/>
            </a:solidFill>
            <a:prstDash val="solid"/>
          </a:ln>
        </p:spPr>
      </p:sp>
      <p:sp>
        <p:nvSpPr>
          <p:cNvPr id="122" name="Text 117"/>
          <p:cNvSpPr/>
          <p:nvPr/>
        </p:nvSpPr>
        <p:spPr>
          <a:xfrm>
            <a:off x="5742432" y="2098548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750"/>
          </a:p>
        </p:txBody>
      </p:sp>
      <p:sp>
        <p:nvSpPr>
          <p:cNvPr id="124" name="Text 119"/>
          <p:cNvSpPr/>
          <p:nvPr/>
        </p:nvSpPr>
        <p:spPr>
          <a:xfrm>
            <a:off x="7434072" y="2098548"/>
            <a:ext cx="694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$8,997</a:t>
            </a:r>
            <a:endParaRPr lang="en-US" sz="750"/>
          </a:p>
        </p:txBody>
      </p:sp>
      <p:sp>
        <p:nvSpPr>
          <p:cNvPr id="125" name="Text 120"/>
          <p:cNvSpPr/>
          <p:nvPr/>
        </p:nvSpPr>
        <p:spPr>
          <a:xfrm>
            <a:off x="8129016" y="2098548"/>
            <a:ext cx="667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$179,936</a:t>
            </a:r>
            <a:endParaRPr lang="en-US" sz="750"/>
          </a:p>
        </p:txBody>
      </p:sp>
      <p:sp>
        <p:nvSpPr>
          <p:cNvPr id="126" name="Text 121"/>
          <p:cNvSpPr/>
          <p:nvPr/>
        </p:nvSpPr>
        <p:spPr>
          <a:xfrm>
            <a:off x="8668512" y="2093976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0.050</a:t>
            </a:r>
            <a:endParaRPr lang="en-US" sz="750"/>
          </a:p>
        </p:txBody>
      </p:sp>
      <p:sp>
        <p:nvSpPr>
          <p:cNvPr id="127" name="Shape 122"/>
          <p:cNvSpPr/>
          <p:nvPr/>
        </p:nvSpPr>
        <p:spPr>
          <a:xfrm>
            <a:off x="5687568" y="2304288"/>
            <a:ext cx="3310128" cy="210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C"/>
            </a:solidFill>
            <a:prstDash val="solid"/>
          </a:ln>
        </p:spPr>
      </p:sp>
      <p:sp>
        <p:nvSpPr>
          <p:cNvPr id="128" name="Text 123"/>
          <p:cNvSpPr/>
          <p:nvPr/>
        </p:nvSpPr>
        <p:spPr>
          <a:xfrm>
            <a:off x="5742432" y="2304288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Textiles</a:t>
            </a:r>
            <a:endParaRPr lang="en-US" sz="750"/>
          </a:p>
        </p:txBody>
      </p:sp>
      <p:sp>
        <p:nvSpPr>
          <p:cNvPr id="130" name="Text 125"/>
          <p:cNvSpPr/>
          <p:nvPr/>
        </p:nvSpPr>
        <p:spPr>
          <a:xfrm>
            <a:off x="7434072" y="2304288"/>
            <a:ext cx="694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$5,269</a:t>
            </a:r>
            <a:endParaRPr lang="en-US" sz="750"/>
          </a:p>
        </p:txBody>
      </p:sp>
      <p:sp>
        <p:nvSpPr>
          <p:cNvPr id="131" name="Text 126"/>
          <p:cNvSpPr/>
          <p:nvPr/>
        </p:nvSpPr>
        <p:spPr>
          <a:xfrm>
            <a:off x="8129016" y="2304288"/>
            <a:ext cx="667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$105,379</a:t>
            </a:r>
            <a:endParaRPr lang="en-US" sz="750"/>
          </a:p>
        </p:txBody>
      </p:sp>
      <p:sp>
        <p:nvSpPr>
          <p:cNvPr id="132" name="Text 127"/>
          <p:cNvSpPr/>
          <p:nvPr/>
        </p:nvSpPr>
        <p:spPr>
          <a:xfrm>
            <a:off x="8668512" y="2304288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0.050</a:t>
            </a:r>
            <a:endParaRPr lang="en-US" sz="750"/>
          </a:p>
        </p:txBody>
      </p:sp>
      <p:sp>
        <p:nvSpPr>
          <p:cNvPr id="133" name="Shape 128"/>
          <p:cNvSpPr/>
          <p:nvPr/>
        </p:nvSpPr>
        <p:spPr>
          <a:xfrm>
            <a:off x="5687568" y="2510028"/>
            <a:ext cx="3310128" cy="210312"/>
          </a:xfrm>
          <a:prstGeom prst="rect">
            <a:avLst/>
          </a:prstGeom>
          <a:solidFill>
            <a:srgbClr val="F2F5FB"/>
          </a:solidFill>
          <a:ln w="12700">
            <a:solidFill>
              <a:srgbClr val="D0D8EC"/>
            </a:solidFill>
            <a:prstDash val="solid"/>
          </a:ln>
        </p:spPr>
      </p:sp>
      <p:sp>
        <p:nvSpPr>
          <p:cNvPr id="134" name="Text 129"/>
          <p:cNvSpPr/>
          <p:nvPr/>
        </p:nvSpPr>
        <p:spPr>
          <a:xfrm>
            <a:off x="5742432" y="2510028"/>
            <a:ext cx="1280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Goods</a:t>
            </a:r>
            <a:endParaRPr lang="en-US" sz="750"/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839337FB-FAE8-8735-4B25-1CEF54D5EE28}"/>
              </a:ext>
            </a:extLst>
          </p:cNvPr>
          <p:cNvGrpSpPr/>
          <p:nvPr/>
        </p:nvGrpSpPr>
        <p:grpSpPr>
          <a:xfrm>
            <a:off x="6707124" y="1696212"/>
            <a:ext cx="411480" cy="1028700"/>
            <a:chOff x="7022592" y="1691640"/>
            <a:chExt cx="411480" cy="1028700"/>
          </a:xfrm>
        </p:grpSpPr>
        <p:sp>
          <p:nvSpPr>
            <p:cNvPr id="123" name="Text 118"/>
            <p:cNvSpPr/>
            <p:nvPr/>
          </p:nvSpPr>
          <p:spPr>
            <a:xfrm>
              <a:off x="7022592" y="2098548"/>
              <a:ext cx="41148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E863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194</a:t>
              </a:r>
              <a:endParaRPr lang="en-US" sz="750"/>
            </a:p>
          </p:txBody>
        </p:sp>
        <p:sp>
          <p:nvSpPr>
            <p:cNvPr id="109" name="Text 104"/>
            <p:cNvSpPr/>
            <p:nvPr/>
          </p:nvSpPr>
          <p:spPr>
            <a:xfrm>
              <a:off x="7022592" y="1691640"/>
              <a:ext cx="41148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65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SHIPS</a:t>
              </a:r>
              <a:endParaRPr lang="en-US" sz="650"/>
            </a:p>
          </p:txBody>
        </p:sp>
        <p:sp>
          <p:nvSpPr>
            <p:cNvPr id="116" name="Text 111"/>
            <p:cNvSpPr/>
            <p:nvPr/>
          </p:nvSpPr>
          <p:spPr>
            <a:xfrm>
              <a:off x="7022592" y="1892808"/>
              <a:ext cx="41148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C0392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170</a:t>
              </a:r>
              <a:endParaRPr lang="en-US" sz="750"/>
            </a:p>
          </p:txBody>
        </p:sp>
        <p:sp>
          <p:nvSpPr>
            <p:cNvPr id="129" name="Text 124"/>
            <p:cNvSpPr/>
            <p:nvPr/>
          </p:nvSpPr>
          <p:spPr>
            <a:xfrm>
              <a:off x="7022592" y="2304288"/>
              <a:ext cx="41148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170</a:t>
              </a:r>
              <a:endParaRPr lang="en-US" sz="750"/>
            </a:p>
          </p:txBody>
        </p:sp>
        <p:sp>
          <p:nvSpPr>
            <p:cNvPr id="135" name="Text 130"/>
            <p:cNvSpPr/>
            <p:nvPr/>
          </p:nvSpPr>
          <p:spPr>
            <a:xfrm>
              <a:off x="7022592" y="2510028"/>
              <a:ext cx="41148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50" b="1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194</a:t>
              </a:r>
              <a:endParaRPr lang="en-US" sz="750"/>
            </a:p>
          </p:txBody>
        </p:sp>
      </p:grpSp>
      <p:sp>
        <p:nvSpPr>
          <p:cNvPr id="136" name="Text 131"/>
          <p:cNvSpPr/>
          <p:nvPr/>
        </p:nvSpPr>
        <p:spPr>
          <a:xfrm>
            <a:off x="7434072" y="2510028"/>
            <a:ext cx="694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$3,406</a:t>
            </a:r>
            <a:endParaRPr lang="en-US" sz="750"/>
          </a:p>
        </p:txBody>
      </p:sp>
      <p:sp>
        <p:nvSpPr>
          <p:cNvPr id="137" name="Text 132"/>
          <p:cNvSpPr/>
          <p:nvPr/>
        </p:nvSpPr>
        <p:spPr>
          <a:xfrm>
            <a:off x="8129016" y="2510028"/>
            <a:ext cx="667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$68,121</a:t>
            </a:r>
            <a:endParaRPr lang="en-US" sz="750"/>
          </a:p>
        </p:txBody>
      </p:sp>
      <p:sp>
        <p:nvSpPr>
          <p:cNvPr id="138" name="Text 133"/>
          <p:cNvSpPr/>
          <p:nvPr/>
        </p:nvSpPr>
        <p:spPr>
          <a:xfrm>
            <a:off x="8668512" y="2510028"/>
            <a:ext cx="365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0.050</a:t>
            </a:r>
            <a:endParaRPr lang="en-US" sz="750"/>
          </a:p>
        </p:txBody>
      </p:sp>
      <p:sp>
        <p:nvSpPr>
          <p:cNvPr id="139" name="Text 134"/>
          <p:cNvSpPr/>
          <p:nvPr/>
        </p:nvSpPr>
        <p:spPr>
          <a:xfrm>
            <a:off x="5687568" y="2724912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2C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Equipment costs 3× more to ship than Consumer Goods → renegotiate freight contracts &amp; optimize shipping methods.</a:t>
            </a:r>
            <a:endParaRPr lang="en-US" sz="750"/>
          </a:p>
        </p:txBody>
      </p:sp>
      <p:sp>
        <p:nvSpPr>
          <p:cNvPr id="140" name="Shape 135"/>
          <p:cNvSpPr/>
          <p:nvPr/>
        </p:nvSpPr>
        <p:spPr>
          <a:xfrm>
            <a:off x="5596128" y="3017520"/>
            <a:ext cx="343814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C"/>
            </a:solidFill>
            <a:prstDash val="solid"/>
          </a:ln>
          <a:effectLst>
            <a:outerShdw blurRad="63500" dist="12700" dir="162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1" name="Shape 136"/>
          <p:cNvSpPr/>
          <p:nvPr/>
        </p:nvSpPr>
        <p:spPr>
          <a:xfrm>
            <a:off x="5596128" y="3017520"/>
            <a:ext cx="3438144" cy="50292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pic>
        <p:nvPicPr>
          <p:cNvPr id="1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7568" y="3108960"/>
            <a:ext cx="219456" cy="219456"/>
          </a:xfrm>
          <a:prstGeom prst="rect">
            <a:avLst/>
          </a:prstGeom>
        </p:spPr>
      </p:pic>
      <p:sp>
        <p:nvSpPr>
          <p:cNvPr id="143" name="Text 137"/>
          <p:cNvSpPr/>
          <p:nvPr/>
        </p:nvSpPr>
        <p:spPr>
          <a:xfrm>
            <a:off x="5961888" y="3090672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Delay Rate by Origin Country</a:t>
            </a:r>
            <a:endParaRPr lang="en-US" sz="1000"/>
          </a:p>
        </p:txBody>
      </p:sp>
      <p:sp>
        <p:nvSpPr>
          <p:cNvPr id="144" name="Text 138"/>
          <p:cNvSpPr/>
          <p:nvPr/>
        </p:nvSpPr>
        <p:spPr>
          <a:xfrm>
            <a:off x="5687568" y="3346704"/>
            <a:ext cx="3273552" cy="115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0">
                <a:solidFill>
                  <a:schemeClr val="accent1">
                    <a:lumMod val="75000"/>
                  </a:schemeClr>
                </a:solidFill>
              </a:rPr>
              <a:t>Delay rates increase materially in regions with extended customs clearance durations, indicating customs processing as a structural operational constraint.</a:t>
            </a:r>
            <a:endParaRPr lang="en-US" sz="40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10" name="Picture 209">
            <a:extLst>
              <a:ext uri="{FF2B5EF4-FFF2-40B4-BE49-F238E27FC236}">
                <a16:creationId xmlns:a16="http://schemas.microsoft.com/office/drawing/2014/main" id="{A940A759-9B06-51D7-5694-0B4244FF00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32436" y="3508027"/>
            <a:ext cx="3228684" cy="1259045"/>
          </a:xfrm>
          <a:prstGeom prst="rect">
            <a:avLst/>
          </a:prstGeom>
        </p:spPr>
      </p:pic>
      <p:sp>
        <p:nvSpPr>
          <p:cNvPr id="211" name="Text 82">
            <a:extLst>
              <a:ext uri="{FF2B5EF4-FFF2-40B4-BE49-F238E27FC236}">
                <a16:creationId xmlns:a16="http://schemas.microsoft.com/office/drawing/2014/main" id="{A841AE54-2B8C-6126-B20A-86929E3A8BED}"/>
              </a:ext>
            </a:extLst>
          </p:cNvPr>
          <p:cNvSpPr/>
          <p:nvPr/>
        </p:nvSpPr>
        <p:spPr>
          <a:xfrm>
            <a:off x="5742432" y="4690872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>
                <a:solidFill>
                  <a:srgbClr val="2C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with longer customs clearance times also showed higher delay rates → customs is the main bottleneck.</a:t>
            </a:r>
            <a:endParaRPr lang="en-US" sz="600"/>
          </a:p>
        </p:txBody>
      </p:sp>
      <p:sp>
        <p:nvSpPr>
          <p:cNvPr id="100" name="Text 96"/>
          <p:cNvSpPr/>
          <p:nvPr/>
        </p:nvSpPr>
        <p:spPr>
          <a:xfrm>
            <a:off x="2334768" y="3984244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kern="0" spc="100">
                <a:solidFill>
                  <a:srgbClr val="E86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700"/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55457D0F-9ED4-F1FD-4525-1BD868FF2985}"/>
              </a:ext>
            </a:extLst>
          </p:cNvPr>
          <p:cNvSpPr txBox="1"/>
          <p:nvPr/>
        </p:nvSpPr>
        <p:spPr>
          <a:xfrm>
            <a:off x="2240280" y="4660815"/>
            <a:ext cx="32278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accent1">
                    <a:lumMod val="40000"/>
                    <a:lumOff val="60000"/>
                  </a:schemeClr>
                </a:solidFill>
              </a:rPr>
              <a:t>SQL analysis identified recurring delay bottlenecks, high-cost shipment categories, and customs-driven inefficiencies across critical international logistics routes.</a:t>
            </a:r>
            <a:endParaRPr lang="en-IN" sz="80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8" name="Text 0">
            <a:extLst>
              <a:ext uri="{FF2B5EF4-FFF2-40B4-BE49-F238E27FC236}">
                <a16:creationId xmlns:a16="http://schemas.microsoft.com/office/drawing/2014/main" id="{C0EC425A-1669-6000-B7E7-95F3AFF9894E}"/>
              </a:ext>
            </a:extLst>
          </p:cNvPr>
          <p:cNvSpPr/>
          <p:nvPr/>
        </p:nvSpPr>
        <p:spPr>
          <a:xfrm>
            <a:off x="108231" y="4361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>
                <a:solidFill>
                  <a:srgbClr val="0F2240"/>
                </a:solidFill>
                <a:ea typeface="+mn-lt"/>
                <a:cs typeface="+mn-lt"/>
              </a:rPr>
              <a:t>SQL-Driven Operational Intelligence for Supply Chain Optimization</a:t>
            </a:r>
            <a:endParaRPr lang="en-US" sz="24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96061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4">
            <a:extLst>
              <a:ext uri="{FF2B5EF4-FFF2-40B4-BE49-F238E27FC236}">
                <a16:creationId xmlns:a16="http://schemas.microsoft.com/office/drawing/2014/main" id="{24C718FB-6E1D-7B1D-A8A9-C2CA6213287E}"/>
              </a:ext>
            </a:extLst>
          </p:cNvPr>
          <p:cNvSpPr/>
          <p:nvPr/>
        </p:nvSpPr>
        <p:spPr>
          <a:xfrm>
            <a:off x="3182112" y="524256"/>
            <a:ext cx="2980944" cy="2761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C"/>
            </a:solidFill>
            <a:prstDash val="solid"/>
          </a:ln>
          <a:effectLst>
            <a:outerShdw blurRad="63500" dist="12700" dir="16200000" algn="bl" rotWithShape="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" y="521208"/>
            <a:ext cx="2980944" cy="2764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C"/>
            </a:solidFill>
            <a:prstDash val="solid"/>
          </a:ln>
          <a:effectLst>
            <a:outerShdw blurRad="63500" dist="12700" dir="16200000" algn="bl" rotWithShape="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" y="521208"/>
            <a:ext cx="2980944" cy="50292"/>
          </a:xfrm>
          <a:prstGeom prst="rect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" y="612648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75488" y="59436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· Destination Country Volume</a:t>
            </a:r>
            <a:endParaRPr lang="en-US" sz="1050"/>
          </a:p>
        </p:txBody>
      </p: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90FCE8BB-C0CE-D991-1B7B-ADA139C039DF}"/>
              </a:ext>
            </a:extLst>
          </p:cNvPr>
          <p:cNvGrpSpPr/>
          <p:nvPr/>
        </p:nvGrpSpPr>
        <p:grpSpPr>
          <a:xfrm>
            <a:off x="213360" y="2741677"/>
            <a:ext cx="2816352" cy="420624"/>
            <a:chOff x="201168" y="3630168"/>
            <a:chExt cx="2816352" cy="420624"/>
          </a:xfrm>
        </p:grpSpPr>
        <p:sp>
          <p:nvSpPr>
            <p:cNvPr id="63" name="Shape 60"/>
            <p:cNvSpPr/>
            <p:nvPr/>
          </p:nvSpPr>
          <p:spPr>
            <a:xfrm>
              <a:off x="201168" y="3630168"/>
              <a:ext cx="2816352" cy="420624"/>
            </a:xfrm>
            <a:prstGeom prst="rect">
              <a:avLst/>
            </a:prstGeom>
            <a:solidFill>
              <a:srgbClr val="E8F4EC"/>
            </a:solidFill>
            <a:ln w="12700">
              <a:solidFill>
                <a:srgbClr val="B8DEC8"/>
              </a:solidFill>
              <a:prstDash val="solid"/>
            </a:ln>
          </p:spPr>
        </p:sp>
        <p:sp>
          <p:nvSpPr>
            <p:cNvPr id="64" name="Text 61"/>
            <p:cNvSpPr/>
            <p:nvPr/>
          </p:nvSpPr>
          <p:spPr>
            <a:xfrm>
              <a:off x="274320" y="3648456"/>
              <a:ext cx="2670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>
                  <a:solidFill>
                    <a:srgbClr val="15572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India handles 364/728 = 50% of all shipments as pure import hub. High concentration creates operational pressure, congestion risk &amp; delay exposure. Needs warehousing &amp; capacity planning.</a:t>
              </a:r>
              <a:endParaRPr lang="en-US" sz="700"/>
            </a:p>
          </p:txBody>
        </p:sp>
      </p:grpSp>
      <p:sp>
        <p:nvSpPr>
          <p:cNvPr id="66" name="Shape 63"/>
          <p:cNvSpPr/>
          <p:nvPr/>
        </p:nvSpPr>
        <p:spPr>
          <a:xfrm>
            <a:off x="3182112" y="521208"/>
            <a:ext cx="2980944" cy="50292"/>
          </a:xfrm>
          <a:prstGeom prst="rect">
            <a:avLst/>
          </a:prstGeom>
          <a:solidFill>
            <a:srgbClr val="19A05C"/>
          </a:solidFill>
          <a:ln w="12700">
            <a:solidFill>
              <a:srgbClr val="19A05C"/>
            </a:solidFill>
            <a:prstDash val="solid"/>
          </a:ln>
        </p:spPr>
      </p:sp>
      <p:pic>
        <p:nvPicPr>
          <p:cNvPr id="6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552" y="612648"/>
            <a:ext cx="219456" cy="219456"/>
          </a:xfrm>
          <a:prstGeom prst="rect">
            <a:avLst/>
          </a:prstGeom>
        </p:spPr>
      </p:pic>
      <p:sp>
        <p:nvSpPr>
          <p:cNvPr id="68" name="Text 64"/>
          <p:cNvSpPr/>
          <p:nvPr/>
        </p:nvSpPr>
        <p:spPr>
          <a:xfrm>
            <a:off x="3547872" y="59436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· Monthly Delay Trend</a:t>
            </a:r>
            <a:endParaRPr lang="en-US" sz="1050"/>
          </a:p>
        </p:txBody>
      </p:sp>
      <p:sp>
        <p:nvSpPr>
          <p:cNvPr id="71" name="Text 67"/>
          <p:cNvSpPr/>
          <p:nvPr/>
        </p:nvSpPr>
        <p:spPr>
          <a:xfrm>
            <a:off x="3291840" y="2322576"/>
            <a:ext cx="1417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00"/>
          </a:p>
        </p:txBody>
      </p:sp>
      <p:grpSp>
        <p:nvGrpSpPr>
          <p:cNvPr id="225" name="Group 224">
            <a:extLst>
              <a:ext uri="{FF2B5EF4-FFF2-40B4-BE49-F238E27FC236}">
                <a16:creationId xmlns:a16="http://schemas.microsoft.com/office/drawing/2014/main" id="{7DD01F50-289F-4602-DD6C-7198BC0CEB8D}"/>
              </a:ext>
            </a:extLst>
          </p:cNvPr>
          <p:cNvGrpSpPr/>
          <p:nvPr/>
        </p:nvGrpSpPr>
        <p:grpSpPr>
          <a:xfrm>
            <a:off x="3273552" y="2642616"/>
            <a:ext cx="2816352" cy="612647"/>
            <a:chOff x="3273552" y="3364992"/>
            <a:chExt cx="2816352" cy="741795"/>
          </a:xfrm>
        </p:grpSpPr>
        <p:sp>
          <p:nvSpPr>
            <p:cNvPr id="116" name="Shape 112"/>
            <p:cNvSpPr/>
            <p:nvPr/>
          </p:nvSpPr>
          <p:spPr>
            <a:xfrm>
              <a:off x="3273552" y="3364992"/>
              <a:ext cx="2816352" cy="685800"/>
            </a:xfrm>
            <a:prstGeom prst="rect">
              <a:avLst/>
            </a:prstGeom>
            <a:solidFill>
              <a:srgbClr val="F2F5FB"/>
            </a:solidFill>
            <a:ln w="12700">
              <a:solidFill>
                <a:srgbClr val="D0D8EC"/>
              </a:solidFill>
              <a:prstDash val="solid"/>
            </a:ln>
          </p:spPr>
        </p:sp>
        <p:sp>
          <p:nvSpPr>
            <p:cNvPr id="117" name="Text 113"/>
            <p:cNvSpPr/>
            <p:nvPr/>
          </p:nvSpPr>
          <p:spPr>
            <a:xfrm>
              <a:off x="3346704" y="3392424"/>
              <a:ext cx="2706624" cy="1645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700" b="1" kern="0" spc="100">
                  <a:solidFill>
                    <a:srgbClr val="2C4A7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ACTIONS NEEDED</a:t>
              </a:r>
              <a:endParaRPr lang="en-US" sz="700"/>
            </a:p>
          </p:txBody>
        </p:sp>
        <p:sp>
          <p:nvSpPr>
            <p:cNvPr id="118" name="Text 114"/>
            <p:cNvSpPr/>
            <p:nvPr/>
          </p:nvSpPr>
          <p:spPr>
            <a:xfrm>
              <a:off x="3346704" y="3566158"/>
              <a:ext cx="2706624" cy="54062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 sz="75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1.  Process redesign at origin &amp; carrier level</a:t>
              </a:r>
              <a:endParaRPr lang="en-US" sz="750"/>
            </a:p>
            <a:p>
              <a:pPr marL="0" indent="0">
                <a:buNone/>
              </a:pPr>
              <a:r>
                <a:rPr lang="en-US" sz="75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2.  Logistics automation &amp; predictive alerts</a:t>
              </a:r>
              <a:endParaRPr lang="en-US" sz="750"/>
            </a:p>
            <a:p>
              <a:pPr marL="0" indent="0">
                <a:buNone/>
              </a:pPr>
              <a:r>
                <a:rPr lang="en-US" sz="750">
                  <a:solidFill>
                    <a:srgbClr val="0D1B3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3.  Escalation workflows for repeat-delay lanes</a:t>
              </a:r>
              <a:endParaRPr lang="en-US" sz="750"/>
            </a:p>
          </p:txBody>
        </p:sp>
      </p:grpSp>
      <p:sp>
        <p:nvSpPr>
          <p:cNvPr id="119" name="Shape 115"/>
          <p:cNvSpPr/>
          <p:nvPr/>
        </p:nvSpPr>
        <p:spPr>
          <a:xfrm>
            <a:off x="6254496" y="521208"/>
            <a:ext cx="2798064" cy="2764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C"/>
            </a:solidFill>
            <a:prstDash val="solid"/>
          </a:ln>
          <a:effectLst>
            <a:outerShdw blurRad="63500" dist="12700" dir="162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0" name="Shape 116"/>
          <p:cNvSpPr/>
          <p:nvPr/>
        </p:nvSpPr>
        <p:spPr>
          <a:xfrm>
            <a:off x="6254496" y="521208"/>
            <a:ext cx="2779776" cy="5029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pic>
        <p:nvPicPr>
          <p:cNvPr id="1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612648"/>
            <a:ext cx="219456" cy="219456"/>
          </a:xfrm>
          <a:prstGeom prst="rect">
            <a:avLst/>
          </a:prstGeom>
        </p:spPr>
      </p:pic>
      <p:sp>
        <p:nvSpPr>
          <p:cNvPr id="122" name="Text 117"/>
          <p:cNvSpPr/>
          <p:nvPr/>
        </p:nvSpPr>
        <p:spPr>
          <a:xfrm>
            <a:off x="6620256" y="594360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· High-Value Shipment Risks</a:t>
            </a:r>
            <a:endParaRPr lang="en-US" sz="1050"/>
          </a:p>
        </p:txBody>
      </p:sp>
      <p:sp>
        <p:nvSpPr>
          <p:cNvPr id="191" name="Text 186"/>
          <p:cNvSpPr/>
          <p:nvPr/>
        </p:nvSpPr>
        <p:spPr>
          <a:xfrm>
            <a:off x="6345936" y="2935887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>
                <a:solidFill>
                  <a:srgbClr val="2C4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Ind. Equip highest avg value ($357,500) — yet 16.7% delay rate. Maximum revenue at risk.</a:t>
            </a:r>
            <a:endParaRPr lang="en-US" sz="700"/>
          </a:p>
        </p:txBody>
      </p:sp>
      <p:pic>
        <p:nvPicPr>
          <p:cNvPr id="217" name="Picture 216">
            <a:extLst>
              <a:ext uri="{FF2B5EF4-FFF2-40B4-BE49-F238E27FC236}">
                <a16:creationId xmlns:a16="http://schemas.microsoft.com/office/drawing/2014/main" id="{DFC83EA5-179A-1D42-33C3-DB68E87A8CC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866" t="17174"/>
          <a:stretch>
            <a:fillRect/>
          </a:stretch>
        </p:blipFill>
        <p:spPr>
          <a:xfrm>
            <a:off x="3248732" y="858774"/>
            <a:ext cx="2841172" cy="1712976"/>
          </a:xfrm>
          <a:prstGeom prst="rect">
            <a:avLst/>
          </a:prstGeom>
        </p:spPr>
      </p:pic>
      <p:grpSp>
        <p:nvGrpSpPr>
          <p:cNvPr id="224" name="Group 223">
            <a:extLst>
              <a:ext uri="{FF2B5EF4-FFF2-40B4-BE49-F238E27FC236}">
                <a16:creationId xmlns:a16="http://schemas.microsoft.com/office/drawing/2014/main" id="{1D91EB2C-AAB0-15D8-E88F-18F90280AA3B}"/>
              </a:ext>
            </a:extLst>
          </p:cNvPr>
          <p:cNvGrpSpPr/>
          <p:nvPr/>
        </p:nvGrpSpPr>
        <p:grpSpPr>
          <a:xfrm>
            <a:off x="103632" y="3356610"/>
            <a:ext cx="8924544" cy="1664208"/>
            <a:chOff x="420624" y="4480560"/>
            <a:chExt cx="8924544" cy="1664208"/>
          </a:xfrm>
        </p:grpSpPr>
        <p:grpSp>
          <p:nvGrpSpPr>
            <p:cNvPr id="220" name="Group 219">
              <a:extLst>
                <a:ext uri="{FF2B5EF4-FFF2-40B4-BE49-F238E27FC236}">
                  <a16:creationId xmlns:a16="http://schemas.microsoft.com/office/drawing/2014/main" id="{FE5EF02B-AC8D-03ED-D4D8-DEE47878629A}"/>
                </a:ext>
              </a:extLst>
            </p:cNvPr>
            <p:cNvGrpSpPr/>
            <p:nvPr/>
          </p:nvGrpSpPr>
          <p:grpSpPr>
            <a:xfrm>
              <a:off x="420624" y="4480560"/>
              <a:ext cx="8924544" cy="1664208"/>
              <a:chOff x="146304" y="3383280"/>
              <a:chExt cx="8924544" cy="1664208"/>
            </a:xfrm>
          </p:grpSpPr>
          <p:sp>
            <p:nvSpPr>
              <p:cNvPr id="192" name="Shape 187"/>
              <p:cNvSpPr/>
              <p:nvPr/>
            </p:nvSpPr>
            <p:spPr>
              <a:xfrm>
                <a:off x="146304" y="3383280"/>
                <a:ext cx="8924544" cy="1664208"/>
              </a:xfrm>
              <a:prstGeom prst="rect">
                <a:avLst/>
              </a:prstGeom>
              <a:solidFill>
                <a:srgbClr val="0D1B3E"/>
              </a:solidFill>
              <a:ln w="12700">
                <a:solidFill>
                  <a:srgbClr val="0D1B3E"/>
                </a:solidFill>
                <a:prstDash val="solid"/>
              </a:ln>
            </p:spPr>
          </p:sp>
          <p:pic>
            <p:nvPicPr>
              <p:cNvPr id="194" name="Image 3" descr="preencoded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4320" y="3438144"/>
                <a:ext cx="201168" cy="201168"/>
              </a:xfrm>
              <a:prstGeom prst="rect">
                <a:avLst/>
              </a:prstGeom>
            </p:spPr>
          </p:pic>
          <p:sp>
            <p:nvSpPr>
              <p:cNvPr id="195" name="Text 189"/>
              <p:cNvSpPr/>
              <p:nvPr/>
            </p:nvSpPr>
            <p:spPr>
              <a:xfrm>
                <a:off x="530352" y="3419856"/>
                <a:ext cx="8321040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00" b="1" kern="0" spc="100">
                    <a:solidFill>
                      <a:srgbClr val="E863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FINAL STRATEGIC INSIGHTS  ·  Phase 7 SQL Summary</a:t>
                </a:r>
                <a:endParaRPr lang="en-US" sz="800"/>
              </a:p>
            </p:txBody>
          </p:sp>
          <p:sp>
            <p:nvSpPr>
              <p:cNvPr id="196" name="Shape 190"/>
              <p:cNvSpPr/>
              <p:nvPr/>
            </p:nvSpPr>
            <p:spPr>
              <a:xfrm>
                <a:off x="274320" y="3675888"/>
                <a:ext cx="1664208" cy="1280160"/>
              </a:xfrm>
              <a:prstGeom prst="rect">
                <a:avLst/>
              </a:prstGeom>
              <a:solidFill>
                <a:srgbClr val="162B52"/>
              </a:solidFill>
              <a:ln w="12700">
                <a:solidFill>
                  <a:srgbClr val="E8631A"/>
                </a:solidFill>
                <a:prstDash val="solid"/>
              </a:ln>
            </p:spPr>
          </p:sp>
          <p:sp>
            <p:nvSpPr>
              <p:cNvPr id="197" name="Text 191"/>
              <p:cNvSpPr/>
              <p:nvPr/>
            </p:nvSpPr>
            <p:spPr>
              <a:xfrm>
                <a:off x="347472" y="3712464"/>
                <a:ext cx="402336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800" b="1">
                    <a:solidFill>
                      <a:srgbClr val="E863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01</a:t>
                </a:r>
                <a:endParaRPr lang="en-US" sz="1800"/>
              </a:p>
            </p:txBody>
          </p:sp>
          <p:sp>
            <p:nvSpPr>
              <p:cNvPr id="198" name="Text 192"/>
              <p:cNvSpPr/>
              <p:nvPr/>
            </p:nvSpPr>
            <p:spPr>
              <a:xfrm>
                <a:off x="768096" y="3730752"/>
                <a:ext cx="1133856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50" b="1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Mumbai = Risk Hub</a:t>
                </a:r>
                <a:endParaRPr lang="en-US" sz="850"/>
              </a:p>
            </p:txBody>
          </p:sp>
          <p:sp>
            <p:nvSpPr>
              <p:cNvPr id="199" name="Text 193"/>
              <p:cNvSpPr/>
              <p:nvPr/>
            </p:nvSpPr>
            <p:spPr>
              <a:xfrm>
                <a:off x="347472" y="4023360"/>
                <a:ext cx="1554480" cy="8961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00">
                    <a:solidFill>
                      <a:srgbClr val="9AB8D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Mumbai appears in 4 of top 5 worst routes. Dedicated monitoring &amp; carrier renegotiation required urgently.</a:t>
                </a:r>
                <a:endParaRPr lang="en-US" sz="700"/>
              </a:p>
            </p:txBody>
          </p:sp>
          <p:sp>
            <p:nvSpPr>
              <p:cNvPr id="200" name="Shape 194"/>
              <p:cNvSpPr/>
              <p:nvPr/>
            </p:nvSpPr>
            <p:spPr>
              <a:xfrm>
                <a:off x="2039112" y="3675888"/>
                <a:ext cx="1664208" cy="1280160"/>
              </a:xfrm>
              <a:prstGeom prst="rect">
                <a:avLst/>
              </a:prstGeom>
              <a:solidFill>
                <a:srgbClr val="162B52"/>
              </a:solidFill>
              <a:ln w="12700">
                <a:solidFill>
                  <a:srgbClr val="19A05C"/>
                </a:solidFill>
                <a:prstDash val="solid"/>
              </a:ln>
            </p:spPr>
          </p:sp>
          <p:sp>
            <p:nvSpPr>
              <p:cNvPr id="201" name="Text 195"/>
              <p:cNvSpPr/>
              <p:nvPr/>
            </p:nvSpPr>
            <p:spPr>
              <a:xfrm>
                <a:off x="2112264" y="3712464"/>
                <a:ext cx="402336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800" b="1">
                    <a:solidFill>
                      <a:srgbClr val="19A05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02</a:t>
                </a:r>
                <a:endParaRPr lang="en-US" sz="1800"/>
              </a:p>
            </p:txBody>
          </p:sp>
          <p:sp>
            <p:nvSpPr>
              <p:cNvPr id="202" name="Text 196"/>
              <p:cNvSpPr/>
              <p:nvPr/>
            </p:nvSpPr>
            <p:spPr>
              <a:xfrm>
                <a:off x="2532888" y="3730752"/>
                <a:ext cx="1133856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50" b="1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Industrial = Costly</a:t>
                </a:r>
                <a:endParaRPr lang="en-US" sz="850"/>
              </a:p>
            </p:txBody>
          </p:sp>
          <p:sp>
            <p:nvSpPr>
              <p:cNvPr id="203" name="Text 197"/>
              <p:cNvSpPr/>
              <p:nvPr/>
            </p:nvSpPr>
            <p:spPr>
              <a:xfrm>
                <a:off x="2112264" y="4037076"/>
                <a:ext cx="1554480" cy="8961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00">
                    <a:solidFill>
                      <a:srgbClr val="9AB8D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Industrial Equipment costs $10,487 avg freight vs $3,406 Consumer Goods. Renegotiate contracts, explore sea-air hybrid routing.</a:t>
                </a:r>
                <a:endParaRPr lang="en-US" sz="700"/>
              </a:p>
            </p:txBody>
          </p:sp>
          <p:sp>
            <p:nvSpPr>
              <p:cNvPr id="204" name="Shape 198"/>
              <p:cNvSpPr/>
              <p:nvPr/>
            </p:nvSpPr>
            <p:spPr>
              <a:xfrm>
                <a:off x="3803904" y="3689604"/>
                <a:ext cx="1664208" cy="1280160"/>
              </a:xfrm>
              <a:prstGeom prst="rect">
                <a:avLst/>
              </a:prstGeom>
              <a:solidFill>
                <a:srgbClr val="162B52"/>
              </a:solidFill>
              <a:ln w="12700">
                <a:solidFill>
                  <a:srgbClr val="1E5FA8"/>
                </a:solidFill>
                <a:prstDash val="solid"/>
              </a:ln>
            </p:spPr>
          </p:sp>
          <p:sp>
            <p:nvSpPr>
              <p:cNvPr id="205" name="Text 199"/>
              <p:cNvSpPr/>
              <p:nvPr/>
            </p:nvSpPr>
            <p:spPr>
              <a:xfrm>
                <a:off x="3877056" y="3726180"/>
                <a:ext cx="402336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800" b="1">
                    <a:solidFill>
                      <a:srgbClr val="1E5FA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03</a:t>
                </a:r>
                <a:endParaRPr lang="en-US" sz="1800"/>
              </a:p>
            </p:txBody>
          </p:sp>
          <p:sp>
            <p:nvSpPr>
              <p:cNvPr id="206" name="Text 200"/>
              <p:cNvSpPr/>
              <p:nvPr/>
            </p:nvSpPr>
            <p:spPr>
              <a:xfrm>
                <a:off x="4297680" y="3744468"/>
                <a:ext cx="1133856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50" b="1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Customs = Bottleneck</a:t>
                </a:r>
                <a:endParaRPr lang="en-US" sz="850"/>
              </a:p>
            </p:txBody>
          </p:sp>
          <p:sp>
            <p:nvSpPr>
              <p:cNvPr id="207" name="Text 201"/>
              <p:cNvSpPr/>
              <p:nvPr/>
            </p:nvSpPr>
            <p:spPr>
              <a:xfrm>
                <a:off x="3877056" y="4037076"/>
                <a:ext cx="1554480" cy="8961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00">
                    <a:solidFill>
                      <a:srgbClr val="9AB8D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Germany (23.1%, 4.80 days) and Japan/Italy (5+ days clearance) confirm customs as primary delay driver. Pre-clearance &amp; documentation automation needed.</a:t>
                </a:r>
                <a:endParaRPr lang="en-US" sz="700"/>
              </a:p>
            </p:txBody>
          </p:sp>
          <p:sp>
            <p:nvSpPr>
              <p:cNvPr id="208" name="Shape 202"/>
              <p:cNvSpPr/>
              <p:nvPr/>
            </p:nvSpPr>
            <p:spPr>
              <a:xfrm>
                <a:off x="5568696" y="3689604"/>
                <a:ext cx="1664208" cy="1280160"/>
              </a:xfrm>
              <a:prstGeom prst="rect">
                <a:avLst/>
              </a:prstGeom>
              <a:solidFill>
                <a:srgbClr val="162B52"/>
              </a:solidFill>
              <a:ln w="12700">
                <a:solidFill>
                  <a:srgbClr val="D4A017"/>
                </a:solidFill>
                <a:prstDash val="solid"/>
              </a:ln>
            </p:spPr>
          </p:sp>
          <p:sp>
            <p:nvSpPr>
              <p:cNvPr id="209" name="Text 203"/>
              <p:cNvSpPr/>
              <p:nvPr/>
            </p:nvSpPr>
            <p:spPr>
              <a:xfrm>
                <a:off x="5641848" y="3726180"/>
                <a:ext cx="402336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800" b="1">
                    <a:solidFill>
                      <a:srgbClr val="D4A01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04</a:t>
                </a:r>
                <a:endParaRPr lang="en-US" sz="1800"/>
              </a:p>
            </p:txBody>
          </p:sp>
          <p:sp>
            <p:nvSpPr>
              <p:cNvPr id="210" name="Text 204"/>
              <p:cNvSpPr/>
              <p:nvPr/>
            </p:nvSpPr>
            <p:spPr>
              <a:xfrm>
                <a:off x="6062472" y="3744468"/>
                <a:ext cx="1133856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50" b="1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India = Concentration Risk</a:t>
                </a:r>
                <a:endParaRPr lang="en-US" sz="850"/>
              </a:p>
            </p:txBody>
          </p:sp>
          <p:sp>
            <p:nvSpPr>
              <p:cNvPr id="211" name="Text 205"/>
              <p:cNvSpPr/>
              <p:nvPr/>
            </p:nvSpPr>
            <p:spPr>
              <a:xfrm>
                <a:off x="5641848" y="4037076"/>
                <a:ext cx="1554480" cy="8961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00">
                    <a:solidFill>
                      <a:srgbClr val="9AB8D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50% of all shipments flow to India. Single-hub dependency creates congestion &amp; delay amplification. Needs warehousing + capacity buffers.</a:t>
                </a:r>
                <a:endParaRPr lang="en-US" sz="700"/>
              </a:p>
            </p:txBody>
          </p:sp>
          <p:sp>
            <p:nvSpPr>
              <p:cNvPr id="212" name="Shape 206"/>
              <p:cNvSpPr/>
              <p:nvPr/>
            </p:nvSpPr>
            <p:spPr>
              <a:xfrm>
                <a:off x="7333488" y="3675888"/>
                <a:ext cx="1664208" cy="1280160"/>
              </a:xfrm>
              <a:prstGeom prst="rect">
                <a:avLst/>
              </a:prstGeom>
              <a:solidFill>
                <a:srgbClr val="162B52"/>
              </a:solidFill>
              <a:ln w="12700">
                <a:solidFill>
                  <a:srgbClr val="C0392B"/>
                </a:solidFill>
                <a:prstDash val="solid"/>
              </a:ln>
            </p:spPr>
          </p:sp>
          <p:sp>
            <p:nvSpPr>
              <p:cNvPr id="213" name="Text 207"/>
              <p:cNvSpPr/>
              <p:nvPr/>
            </p:nvSpPr>
            <p:spPr>
              <a:xfrm>
                <a:off x="7406640" y="3726180"/>
                <a:ext cx="402336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800" b="1">
                    <a:solidFill>
                      <a:srgbClr val="C0392B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05</a:t>
                </a:r>
                <a:endParaRPr lang="en-US" sz="1800"/>
              </a:p>
            </p:txBody>
          </p:sp>
          <p:sp>
            <p:nvSpPr>
              <p:cNvPr id="214" name="Text 208"/>
              <p:cNvSpPr/>
              <p:nvPr/>
            </p:nvSpPr>
            <p:spPr>
              <a:xfrm>
                <a:off x="7827264" y="3744468"/>
                <a:ext cx="1133856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850" b="1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Systemic Delays</a:t>
                </a:r>
                <a:endParaRPr lang="en-US" sz="850"/>
              </a:p>
            </p:txBody>
          </p:sp>
          <p:sp>
            <p:nvSpPr>
              <p:cNvPr id="215" name="Text 209"/>
              <p:cNvSpPr/>
              <p:nvPr/>
            </p:nvSpPr>
            <p:spPr>
              <a:xfrm>
                <a:off x="7406640" y="4037076"/>
                <a:ext cx="1554480" cy="8961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700">
                    <a:solidFill>
                      <a:srgbClr val="9AB8D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18 months of 13–17% delay rates with no improvement trend. Structural redesign + automation required — not tactical fixes.</a:t>
                </a:r>
                <a:endParaRPr lang="en-US" sz="700"/>
              </a:p>
            </p:txBody>
          </p:sp>
        </p:grpSp>
        <p:sp>
          <p:nvSpPr>
            <p:cNvPr id="193" name="Shape 188"/>
            <p:cNvSpPr/>
            <p:nvPr/>
          </p:nvSpPr>
          <p:spPr>
            <a:xfrm>
              <a:off x="420624" y="4480560"/>
              <a:ext cx="91440" cy="1664208"/>
            </a:xfrm>
            <a:prstGeom prst="rect">
              <a:avLst/>
            </a:prstGeom>
            <a:solidFill>
              <a:srgbClr val="E8631A"/>
            </a:solidFill>
            <a:ln w="12700">
              <a:solidFill>
                <a:srgbClr val="E8631A"/>
              </a:solidFill>
              <a:prstDash val="solid"/>
            </a:ln>
          </p:spPr>
        </p:sp>
      </p:grpSp>
      <p:pic>
        <p:nvPicPr>
          <p:cNvPr id="227" name="Picture 226">
            <a:extLst>
              <a:ext uri="{FF2B5EF4-FFF2-40B4-BE49-F238E27FC236}">
                <a16:creationId xmlns:a16="http://schemas.microsoft.com/office/drawing/2014/main" id="{928B23B2-2389-B22C-7674-2757577538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1472" y="873253"/>
            <a:ext cx="2855743" cy="1819656"/>
          </a:xfrm>
          <a:prstGeom prst="rect">
            <a:avLst/>
          </a:prstGeom>
        </p:spPr>
      </p:pic>
      <p:pic>
        <p:nvPicPr>
          <p:cNvPr id="230" name="Picture 229">
            <a:extLst>
              <a:ext uri="{FF2B5EF4-FFF2-40B4-BE49-F238E27FC236}">
                <a16:creationId xmlns:a16="http://schemas.microsoft.com/office/drawing/2014/main" id="{17615409-5183-CE2A-7E27-F05D7C20F7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7649" y="876740"/>
            <a:ext cx="2682240" cy="2022571"/>
          </a:xfrm>
          <a:prstGeom prst="rect">
            <a:avLst/>
          </a:prstGeom>
        </p:spPr>
      </p:pic>
      <p:sp>
        <p:nvSpPr>
          <p:cNvPr id="11" name="Text 0">
            <a:extLst>
              <a:ext uri="{FF2B5EF4-FFF2-40B4-BE49-F238E27FC236}">
                <a16:creationId xmlns:a16="http://schemas.microsoft.com/office/drawing/2014/main" id="{FBB06D62-A647-DF70-DBC9-D41000EFA59D}"/>
              </a:ext>
            </a:extLst>
          </p:cNvPr>
          <p:cNvSpPr/>
          <p:nvPr/>
        </p:nvSpPr>
        <p:spPr>
          <a:xfrm>
            <a:off x="108231" y="4361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>
                <a:solidFill>
                  <a:srgbClr val="0F2240"/>
                </a:solidFill>
                <a:ea typeface="+mn-lt"/>
                <a:cs typeface="+mn-lt"/>
              </a:rPr>
              <a:t>SQL-Driven Supply Chain Risk Intelligence</a:t>
            </a:r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590342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Integration</a:t>
            </a:r>
            <a:endParaRPr lang="en-US" sz="2600"/>
          </a:p>
        </p:txBody>
      </p:sp>
      <p:sp>
        <p:nvSpPr>
          <p:cNvPr id="3" name="Text 1"/>
          <p:cNvSpPr/>
          <p:nvPr/>
        </p:nvSpPr>
        <p:spPr>
          <a:xfrm>
            <a:off x="457200" y="6949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API — converting analytical findings into operational recommendations</a:t>
            </a:r>
            <a:endParaRPr lang="en-US" sz="105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1508760" cy="1371600"/>
          </a:xfrm>
          <a:prstGeom prst="rect">
            <a:avLst/>
          </a:prstGeom>
          <a:solidFill>
            <a:srgbClr val="0F22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20700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00"/>
          </a:p>
        </p:txBody>
      </p:sp>
      <p:sp>
        <p:nvSpPr>
          <p:cNvPr id="6" name="Text 4"/>
          <p:cNvSpPr/>
          <p:nvPr/>
        </p:nvSpPr>
        <p:spPr>
          <a:xfrm>
            <a:off x="320040" y="187452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728 rows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shipment_cleaned.csv</a:t>
            </a:r>
            <a:endParaRPr lang="en-US" sz="850"/>
          </a:p>
        </p:txBody>
      </p:sp>
      <p:sp>
        <p:nvSpPr>
          <p:cNvPr id="7" name="Shape 5"/>
          <p:cNvSpPr/>
          <p:nvPr/>
        </p:nvSpPr>
        <p:spPr>
          <a:xfrm>
            <a:off x="1828800" y="1764792"/>
            <a:ext cx="210312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Shape 6"/>
          <p:cNvSpPr/>
          <p:nvPr/>
        </p:nvSpPr>
        <p:spPr>
          <a:xfrm>
            <a:off x="2039112" y="1143000"/>
            <a:ext cx="1508760" cy="1371600"/>
          </a:xfrm>
          <a:prstGeom prst="rect">
            <a:avLst/>
          </a:prstGeom>
          <a:solidFill>
            <a:srgbClr val="1A34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39112" y="120700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2039112" y="187452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rates, route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customs impact</a:t>
            </a:r>
            <a:endParaRPr lang="en-US" sz="850"/>
          </a:p>
        </p:txBody>
      </p:sp>
      <p:sp>
        <p:nvSpPr>
          <p:cNvPr id="11" name="Shape 9"/>
          <p:cNvSpPr/>
          <p:nvPr/>
        </p:nvSpPr>
        <p:spPr>
          <a:xfrm>
            <a:off x="3547872" y="1764792"/>
            <a:ext cx="210312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" name="Shape 10"/>
          <p:cNvSpPr/>
          <p:nvPr/>
        </p:nvSpPr>
        <p:spPr>
          <a:xfrm>
            <a:off x="3758184" y="1143000"/>
            <a:ext cx="1508760" cy="1371600"/>
          </a:xfrm>
          <a:prstGeom prst="rect">
            <a:avLst/>
          </a:prstGeom>
          <a:solidFill>
            <a:srgbClr val="0D948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58184" y="120700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3758184" y="187452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Context-enriched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query</a:t>
            </a:r>
            <a:endParaRPr lang="en-US" sz="850"/>
          </a:p>
        </p:txBody>
      </p:sp>
      <p:sp>
        <p:nvSpPr>
          <p:cNvPr id="15" name="Shape 13"/>
          <p:cNvSpPr/>
          <p:nvPr/>
        </p:nvSpPr>
        <p:spPr>
          <a:xfrm>
            <a:off x="5266944" y="1764792"/>
            <a:ext cx="210312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6" name="Shape 14"/>
          <p:cNvSpPr/>
          <p:nvPr/>
        </p:nvSpPr>
        <p:spPr>
          <a:xfrm>
            <a:off x="5477256" y="1143000"/>
            <a:ext cx="1508760" cy="1371600"/>
          </a:xfrm>
          <a:prstGeom prst="rect">
            <a:avLst/>
          </a:prstGeom>
          <a:solidFill>
            <a:srgbClr val="F59E0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77256" y="120700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claude-sonnet-4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5477256" y="187452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Engine</a:t>
            </a:r>
            <a:endParaRPr lang="en-US" sz="850"/>
          </a:p>
        </p:txBody>
      </p:sp>
      <p:sp>
        <p:nvSpPr>
          <p:cNvPr id="19" name="Shape 17"/>
          <p:cNvSpPr/>
          <p:nvPr/>
        </p:nvSpPr>
        <p:spPr>
          <a:xfrm>
            <a:off x="6986016" y="1764792"/>
            <a:ext cx="210312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0" name="Shape 18"/>
          <p:cNvSpPr/>
          <p:nvPr/>
        </p:nvSpPr>
        <p:spPr>
          <a:xfrm>
            <a:off x="7196328" y="1143000"/>
            <a:ext cx="1508760" cy="1371600"/>
          </a:xfrm>
          <a:prstGeom prst="rect">
            <a:avLst/>
          </a:prstGeom>
          <a:solidFill>
            <a:srgbClr val="16A3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96328" y="1207008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/>
          </a:p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7196328" y="1874520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Route-specific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C5D9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850"/>
          </a:p>
        </p:txBody>
      </p:sp>
      <p:sp>
        <p:nvSpPr>
          <p:cNvPr id="23" name="Shape 21"/>
          <p:cNvSpPr/>
          <p:nvPr/>
        </p:nvSpPr>
        <p:spPr>
          <a:xfrm>
            <a:off x="327804" y="2764766"/>
            <a:ext cx="4163539" cy="2081554"/>
          </a:xfrm>
          <a:prstGeom prst="rect">
            <a:avLst/>
          </a:prstGeom>
          <a:solidFill>
            <a:srgbClr val="0F22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0445" y="2974819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GenAI Receives</a:t>
            </a:r>
            <a:endParaRPr lang="en-US" sz="1600"/>
          </a:p>
        </p:txBody>
      </p:sp>
      <p:sp>
        <p:nvSpPr>
          <p:cNvPr id="25" name="Text 23"/>
          <p:cNvSpPr/>
          <p:nvPr/>
        </p:nvSpPr>
        <p:spPr>
          <a:xfrm>
            <a:off x="594360" y="3218688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C5D9F1"/>
                </a:solidFill>
                <a:latin typeface="Calibri"/>
                <a:ea typeface="Calibri"/>
                <a:cs typeface="Calibri"/>
              </a:rPr>
              <a:t>• Overall delay rate: 15.9%
• Highest-risk category: Consumer Goods (17.5%)
• Top route risk: Mumbai → Singapore (25.0%)
• Customs clearance impact: +1.3 days for delayed shipments
• Origin risk: Germany highest at 23.1%
</a:t>
            </a:r>
            <a:endParaRPr lang="en-US" sz="105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0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Not raw data — only cleaned summary statistics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754880" y="2743200"/>
            <a:ext cx="39319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4848908" y="2891833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F2240"/>
                </a:solidFill>
                <a:latin typeface="Calibri"/>
                <a:ea typeface="Calibri"/>
                <a:cs typeface="Calibri"/>
              </a:rPr>
              <a:t>What GenAI Produces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892040" y="320040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spcAft>
                <a:spcPts val="500"/>
              </a:spcAft>
              <a:buSzPct val="100000"/>
              <a:buFont typeface="Arial"/>
              <a:buChar char="•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Named route-level delay reduction actions with carrier alternatives</a:t>
            </a:r>
            <a:endParaRPr lang="en-US" sz="1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spcAft>
                <a:spcPts val="500"/>
              </a:spcAft>
              <a:buSzPct val="100000"/>
              <a:buFont typeface="Arial"/>
              <a:buChar char="•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Customs pre-clearance triggers for high-risk categories</a:t>
            </a:r>
            <a:endParaRPr lang="en-US" sz="1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spcAft>
                <a:spcPts val="500"/>
              </a:spcAft>
              <a:buSzPct val="100000"/>
              <a:buFont typeface="Arial"/>
              <a:buChar char="•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Documentation automation recommendations to cut clearance time</a:t>
            </a:r>
            <a:endParaRPr lang="en-US" sz="1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spcAft>
                <a:spcPts val="500"/>
              </a:spcAft>
              <a:buSzPct val="100000"/>
              <a:buFont typeface="Arial"/>
              <a:buChar char="•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SLA buffer adjustments by origin country and product type</a:t>
            </a:r>
            <a:endParaRPr lang="en-US" sz="1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spcAft>
                <a:spcPts val="500"/>
              </a:spcAft>
              <a:buSzPct val="100000"/>
              <a:buFont typeface="Arial"/>
              <a:buChar char="•"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Priority matrix for logistics team intervention by delay probability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13816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</a:rPr>
              <a:t>11 / 15</a:t>
            </a:r>
            <a:endParaRPr lang="en-US"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260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14400"/>
            <a:ext cx="45720" cy="7498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024128"/>
            <a:ext cx="59436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02412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HIGH</a:t>
            </a:r>
            <a:endParaRPr lang="en-US" sz="700"/>
          </a:p>
        </p:txBody>
      </p:sp>
      <p:sp>
        <p:nvSpPr>
          <p:cNvPr id="7" name="Text 5"/>
          <p:cNvSpPr/>
          <p:nvPr/>
        </p:nvSpPr>
        <p:spPr>
          <a:xfrm>
            <a:off x="1261872" y="96926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→ Singapore: 25% delay rate</a:t>
            </a:r>
            <a:endParaRPr lang="en-US" sz="1050"/>
          </a:p>
        </p:txBody>
      </p:sp>
      <p:sp>
        <p:nvSpPr>
          <p:cNvPr id="8" name="Text 6"/>
          <p:cNvSpPr/>
          <p:nvPr/>
        </p:nvSpPr>
        <p:spPr>
          <a:xfrm>
            <a:off x="1261872" y="13075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Evaluate alternate logistics carriers for this lane. Initiate pre-clearance paperwork 72 hrs before dispatch.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5120640" y="969264"/>
            <a:ext cx="36576" cy="6400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257800" y="96926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5257800" y="122529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8–12% delay reduction on this route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457200" y="1737360"/>
            <a:ext cx="8229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737360"/>
            <a:ext cx="45720" cy="7498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" y="1847088"/>
            <a:ext cx="594360" cy="228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184708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HIGH</a:t>
            </a:r>
            <a:endParaRPr lang="en-US" sz="700"/>
          </a:p>
        </p:txBody>
      </p:sp>
      <p:sp>
        <p:nvSpPr>
          <p:cNvPr id="16" name="Text 14"/>
          <p:cNvSpPr/>
          <p:nvPr/>
        </p:nvSpPr>
        <p:spPr>
          <a:xfrm>
            <a:off x="1261872" y="179222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Goods highest delay category at 17.5%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1261872" y="213055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Assign dedicated customs compliance agent for Consumer Goods shipments. Standardise documentation checklist.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5120640" y="1792224"/>
            <a:ext cx="36576" cy="6400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/>
          <p:nvPr/>
        </p:nvSpPr>
        <p:spPr>
          <a:xfrm>
            <a:off x="5257800" y="179222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5257800" y="204825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processing exceptions and documentation re-submissions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457200" y="2560320"/>
            <a:ext cx="8229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560320"/>
            <a:ext cx="45720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Shape 21"/>
          <p:cNvSpPr/>
          <p:nvPr/>
        </p:nvSpPr>
        <p:spPr>
          <a:xfrm>
            <a:off x="566928" y="2670048"/>
            <a:ext cx="59436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67004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MEDIUM</a:t>
            </a:r>
            <a:endParaRPr lang="en-US" sz="700"/>
          </a:p>
        </p:txBody>
      </p:sp>
      <p:sp>
        <p:nvSpPr>
          <p:cNvPr id="25" name="Text 23"/>
          <p:cNvSpPr/>
          <p:nvPr/>
        </p:nvSpPr>
        <p:spPr>
          <a:xfrm>
            <a:off x="1261872" y="2582835"/>
            <a:ext cx="3136564" cy="35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 clearance &gt;4 days → 41% higher delay risk</a:t>
            </a:r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1261872" y="295351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Implement automated document review flag for shipments predicted to exceed 4-day clearance threshold.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5120640" y="2615184"/>
            <a:ext cx="36576" cy="6400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5257800" y="26151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5257800" y="287121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intervention window of 2–3 days per flagged shipment</a:t>
            </a:r>
            <a:endParaRPr lang="en-US" sz="950"/>
          </a:p>
        </p:txBody>
      </p:sp>
      <p:sp>
        <p:nvSpPr>
          <p:cNvPr id="30" name="Shape 28"/>
          <p:cNvSpPr/>
          <p:nvPr/>
        </p:nvSpPr>
        <p:spPr>
          <a:xfrm>
            <a:off x="457200" y="3383280"/>
            <a:ext cx="8229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383280"/>
            <a:ext cx="45720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Shape 30"/>
          <p:cNvSpPr/>
          <p:nvPr/>
        </p:nvSpPr>
        <p:spPr>
          <a:xfrm>
            <a:off x="566928" y="3493008"/>
            <a:ext cx="59436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349300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MEDIUM</a:t>
            </a:r>
            <a:endParaRPr lang="en-US" sz="700"/>
          </a:p>
        </p:txBody>
      </p:sp>
      <p:sp>
        <p:nvSpPr>
          <p:cNvPr id="34" name="Text 32"/>
          <p:cNvSpPr/>
          <p:nvPr/>
        </p:nvSpPr>
        <p:spPr>
          <a:xfrm>
            <a:off x="1261872" y="343814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origin: 23.1% delay rate — highest among all origins</a:t>
            </a:r>
            <a:endParaRPr lang="en-US" sz="1050"/>
          </a:p>
        </p:txBody>
      </p:sp>
      <p:sp>
        <p:nvSpPr>
          <p:cNvPr id="35" name="Text 33"/>
          <p:cNvSpPr/>
          <p:nvPr/>
        </p:nvSpPr>
        <p:spPr>
          <a:xfrm>
            <a:off x="1261872" y="377647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Build additional 2-day buffer into SLAs for Germany-origin shipments. Review vendor lead time compliance.</a:t>
            </a:r>
            <a:endParaRPr lang="en-US" sz="900"/>
          </a:p>
        </p:txBody>
      </p:sp>
      <p:sp>
        <p:nvSpPr>
          <p:cNvPr id="36" name="Shape 34"/>
          <p:cNvSpPr/>
          <p:nvPr/>
        </p:nvSpPr>
        <p:spPr>
          <a:xfrm>
            <a:off x="5120640" y="3438144"/>
            <a:ext cx="36576" cy="6400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Text 35"/>
          <p:cNvSpPr/>
          <p:nvPr/>
        </p:nvSpPr>
        <p:spPr>
          <a:xfrm>
            <a:off x="5257800" y="343814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200"/>
          </a:p>
        </p:txBody>
      </p:sp>
      <p:sp>
        <p:nvSpPr>
          <p:cNvPr id="38" name="Text 36"/>
          <p:cNvSpPr/>
          <p:nvPr/>
        </p:nvSpPr>
        <p:spPr>
          <a:xfrm>
            <a:off x="5257800" y="369417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SLA breaches and client escalations on this corridor</a:t>
            </a:r>
            <a:endParaRPr lang="en-US" sz="950"/>
          </a:p>
        </p:txBody>
      </p:sp>
      <p:sp>
        <p:nvSpPr>
          <p:cNvPr id="39" name="Shape 37"/>
          <p:cNvSpPr/>
          <p:nvPr/>
        </p:nvSpPr>
        <p:spPr>
          <a:xfrm>
            <a:off x="457200" y="4206240"/>
            <a:ext cx="8229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7200" y="4206240"/>
            <a:ext cx="45720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Shape 39"/>
          <p:cNvSpPr/>
          <p:nvPr/>
        </p:nvSpPr>
        <p:spPr>
          <a:xfrm>
            <a:off x="566928" y="4315968"/>
            <a:ext cx="594360" cy="228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2" name="Text 40"/>
          <p:cNvSpPr/>
          <p:nvPr/>
        </p:nvSpPr>
        <p:spPr>
          <a:xfrm>
            <a:off x="566928" y="431596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FFFF"/>
                </a:solidFill>
              </a:rPr>
              <a:t>LOW</a:t>
            </a:r>
            <a:endParaRPr lang="en-US" sz="700"/>
          </a:p>
        </p:txBody>
      </p:sp>
      <p:sp>
        <p:nvSpPr>
          <p:cNvPr id="43" name="Text 41"/>
          <p:cNvSpPr/>
          <p:nvPr/>
        </p:nvSpPr>
        <p:spPr>
          <a:xfrm>
            <a:off x="1261872" y="4217972"/>
            <a:ext cx="3481621" cy="3863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F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cost uniformly 5% of value — no dynamic pricing</a:t>
            </a:r>
            <a:endParaRPr lang="en-US" sz="1050"/>
          </a:p>
        </p:txBody>
      </p:sp>
      <p:sp>
        <p:nvSpPr>
          <p:cNvPr id="44" name="Text 42"/>
          <p:cNvSpPr/>
          <p:nvPr/>
        </p:nvSpPr>
        <p:spPr>
          <a:xfrm>
            <a:off x="1261872" y="459943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Benchmark against market rates for high-volume lanes. Negotiate volume-tiered freight rates with carriers.</a:t>
            </a:r>
            <a:endParaRPr lang="en-US" sz="900"/>
          </a:p>
        </p:txBody>
      </p:sp>
      <p:sp>
        <p:nvSpPr>
          <p:cNvPr id="45" name="Shape 43"/>
          <p:cNvSpPr/>
          <p:nvPr/>
        </p:nvSpPr>
        <p:spPr>
          <a:xfrm>
            <a:off x="5120640" y="4261104"/>
            <a:ext cx="36576" cy="64008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6" name="Text 44"/>
          <p:cNvSpPr/>
          <p:nvPr/>
        </p:nvSpPr>
        <p:spPr>
          <a:xfrm>
            <a:off x="5257800" y="426110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200"/>
          </a:p>
        </p:txBody>
      </p:sp>
      <p:sp>
        <p:nvSpPr>
          <p:cNvPr id="47" name="Text 45"/>
          <p:cNvSpPr/>
          <p:nvPr/>
        </p:nvSpPr>
        <p:spPr>
          <a:xfrm>
            <a:off x="5257800" y="451713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2–4% freight cost savings on high-volume India–USA lane</a:t>
            </a:r>
            <a:endParaRPr lang="en-US" sz="950"/>
          </a:p>
        </p:txBody>
      </p:sp>
      <p:sp>
        <p:nvSpPr>
          <p:cNvPr id="48" name="Text 46"/>
          <p:cNvSpPr/>
          <p:nvPr/>
        </p:nvSpPr>
        <p:spPr>
          <a:xfrm>
            <a:off x="8138160" y="48463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4748B"/>
                </a:solidFill>
              </a:rPr>
              <a:t>12 / 15</a:t>
            </a:r>
            <a:endParaRPr lang="en-US"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492240" y="0"/>
            <a:ext cx="2651760" cy="5143500"/>
          </a:xfrm>
          <a:prstGeom prst="rect">
            <a:avLst/>
          </a:prstGeom>
          <a:solidFill>
            <a:srgbClr val="1A3461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731520"/>
            <a:ext cx="2926080" cy="2926080"/>
          </a:xfrm>
          <a:prstGeom prst="ellipse">
            <a:avLst/>
          </a:prstGeom>
          <a:solidFill>
            <a:srgbClr val="0D9488">
              <a:alpha val="10000"/>
            </a:srgbClr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-3026"/>
            <a:ext cx="66105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Conclusion &amp; Future Scope</a:t>
            </a:r>
            <a:endParaRPr lang="en-US" sz="3400">
              <a:latin typeface="Calibri"/>
              <a:ea typeface="Calibri"/>
              <a:cs typeface="Calibri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AA41A8B-CDA7-7ED6-16C8-3EB0CE936ED6}"/>
              </a:ext>
            </a:extLst>
          </p:cNvPr>
          <p:cNvGrpSpPr/>
          <p:nvPr/>
        </p:nvGrpSpPr>
        <p:grpSpPr>
          <a:xfrm>
            <a:off x="548640" y="878430"/>
            <a:ext cx="5782370" cy="881790"/>
            <a:chOff x="548640" y="1508760"/>
            <a:chExt cx="2807208" cy="838951"/>
          </a:xfrm>
        </p:grpSpPr>
        <p:sp>
          <p:nvSpPr>
            <p:cNvPr id="6" name="Shape 4"/>
            <p:cNvSpPr/>
            <p:nvPr/>
          </p:nvSpPr>
          <p:spPr>
            <a:xfrm>
              <a:off x="552720" y="1508760"/>
              <a:ext cx="1370761" cy="838951"/>
            </a:xfrm>
            <a:prstGeom prst="rect">
              <a:avLst/>
            </a:prstGeom>
            <a:solidFill>
              <a:srgbClr val="1A3461"/>
            </a:solidFill>
            <a:ln/>
          </p:spPr>
        </p:sp>
        <p:sp>
          <p:nvSpPr>
            <p:cNvPr id="7" name="Text 5"/>
            <p:cNvSpPr/>
            <p:nvPr/>
          </p:nvSpPr>
          <p:spPr>
            <a:xfrm>
              <a:off x="548640" y="1554480"/>
              <a:ext cx="13258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0D9488"/>
                  </a:solidFill>
                  <a:latin typeface="Calibri"/>
                  <a:ea typeface="Calibri"/>
                  <a:cs typeface="Calibri"/>
                </a:rPr>
                <a:t>704</a:t>
              </a:r>
              <a:endParaRPr lang="en-US" sz="2000"/>
            </a:p>
          </p:txBody>
        </p:sp>
        <p:sp>
          <p:nvSpPr>
            <p:cNvPr id="8" name="Text 6"/>
            <p:cNvSpPr/>
            <p:nvPr/>
          </p:nvSpPr>
          <p:spPr>
            <a:xfrm>
              <a:off x="548640" y="1965960"/>
              <a:ext cx="13258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C5D9F1"/>
                  </a:solidFill>
                  <a:latin typeface="Calibri"/>
                  <a:ea typeface="Calibri"/>
                  <a:cs typeface="Calibri"/>
                </a:rPr>
                <a:t>Shipments analyzed</a:t>
              </a:r>
              <a:endParaRPr lang="en-US" sz="1400">
                <a:ea typeface="Calibri"/>
                <a:cs typeface="Calibri"/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1985087" y="1508760"/>
              <a:ext cx="1366681" cy="830955"/>
            </a:xfrm>
            <a:prstGeom prst="rect">
              <a:avLst/>
            </a:prstGeom>
            <a:solidFill>
              <a:srgbClr val="1A3461"/>
            </a:solidFill>
            <a:ln/>
          </p:spPr>
        </p:sp>
        <p:sp>
          <p:nvSpPr>
            <p:cNvPr id="10" name="Text 8"/>
            <p:cNvSpPr/>
            <p:nvPr/>
          </p:nvSpPr>
          <p:spPr>
            <a:xfrm>
              <a:off x="2029968" y="1554480"/>
              <a:ext cx="13258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0D94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15.9%</a:t>
              </a:r>
              <a:endParaRPr lang="en-US" sz="2000"/>
            </a:p>
          </p:txBody>
        </p:sp>
        <p:sp>
          <p:nvSpPr>
            <p:cNvPr id="11" name="Text 9"/>
            <p:cNvSpPr/>
            <p:nvPr/>
          </p:nvSpPr>
          <p:spPr>
            <a:xfrm>
              <a:off x="2029968" y="1965960"/>
              <a:ext cx="13258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>
                  <a:solidFill>
                    <a:srgbClr val="C5D9F1"/>
                  </a:solidFill>
                  <a:latin typeface="Calibri"/>
                  <a:ea typeface="Calibri"/>
                  <a:cs typeface="Calibri"/>
                </a:rPr>
                <a:t>Baseline delay rate</a:t>
              </a:r>
              <a:endParaRPr lang="en-US" sz="140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4" name="Text 12"/>
          <p:cNvSpPr/>
          <p:nvPr/>
        </p:nvSpPr>
        <p:spPr>
          <a:xfrm>
            <a:off x="3511296" y="19659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>
              <a:solidFill>
                <a:srgbClr val="C5D9F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992624" y="15544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b="1">
              <a:solidFill>
                <a:srgbClr val="0D9488"/>
              </a:solidFill>
              <a:ea typeface="Calibri"/>
              <a:cs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992624" y="196596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>
              <a:solidFill>
                <a:srgbClr val="C5D9F1"/>
              </a:solidFill>
              <a:ea typeface="Calibri"/>
              <a:cs typeface="Calibri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F708196-859C-7FAB-38DD-BD54FFEBDE4E}"/>
              </a:ext>
            </a:extLst>
          </p:cNvPr>
          <p:cNvGrpSpPr/>
          <p:nvPr/>
        </p:nvGrpSpPr>
        <p:grpSpPr>
          <a:xfrm>
            <a:off x="557044" y="1833843"/>
            <a:ext cx="2797324" cy="3012477"/>
            <a:chOff x="548640" y="2514600"/>
            <a:chExt cx="2788920" cy="2331720"/>
          </a:xfrm>
        </p:grpSpPr>
        <p:sp>
          <p:nvSpPr>
            <p:cNvPr id="18" name="Shape 16"/>
            <p:cNvSpPr/>
            <p:nvPr/>
          </p:nvSpPr>
          <p:spPr>
            <a:xfrm>
              <a:off x="548640" y="2514600"/>
              <a:ext cx="2788920" cy="2331720"/>
            </a:xfrm>
            <a:prstGeom prst="rect">
              <a:avLst/>
            </a:prstGeom>
            <a:solidFill>
              <a:srgbClr val="1A3461"/>
            </a:solidFill>
            <a:ln/>
          </p:spPr>
        </p:sp>
        <p:sp>
          <p:nvSpPr>
            <p:cNvPr id="19" name="Text 17"/>
            <p:cNvSpPr/>
            <p:nvPr/>
          </p:nvSpPr>
          <p:spPr>
            <a:xfrm>
              <a:off x="669041" y="2573514"/>
              <a:ext cx="256032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0D948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What We Delivered</a:t>
              </a:r>
              <a:endParaRPr lang="en-US" sz="1400"/>
            </a:p>
          </p:txBody>
        </p:sp>
        <p:sp>
          <p:nvSpPr>
            <p:cNvPr id="20" name="Text 18"/>
            <p:cNvSpPr/>
            <p:nvPr/>
          </p:nvSpPr>
          <p:spPr>
            <a:xfrm>
              <a:off x="685800" y="2980944"/>
              <a:ext cx="2542032" cy="1737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100">
                  <a:solidFill>
                    <a:srgbClr val="C5D9F1"/>
                  </a:solidFill>
                  <a:latin typeface="Calibri"/>
                  <a:ea typeface="Calibri"/>
                  <a:cs typeface="Calibri"/>
                </a:rPr>
                <a:t>Full end-to-end analytics pipeline on 704 real shipments</a:t>
              </a:r>
              <a:endParaRPr lang="en-US" sz="1100">
                <a:latin typeface="Calibri"/>
                <a:ea typeface="Calibri"/>
                <a:cs typeface="Calibri"/>
              </a:endParaRPr>
            </a:p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100">
                  <a:solidFill>
                    <a:srgbClr val="C5D9F1"/>
                  </a:solidFill>
                  <a:latin typeface="Calibri"/>
                  <a:ea typeface="Calibri"/>
                  <a:cs typeface="Calibri"/>
                </a:rPr>
                <a:t>Root-cause identification of 3-column data corruption (24 rows)</a:t>
              </a:r>
              <a:endParaRPr lang="en-US" sz="1100">
                <a:latin typeface="Calibri"/>
                <a:ea typeface="Calibri"/>
                <a:cs typeface="Calibri"/>
              </a:endParaRPr>
            </a:p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100">
                  <a:solidFill>
                    <a:srgbClr val="C5D9F1"/>
                  </a:solidFill>
                  <a:latin typeface="Calibri"/>
                  <a:ea typeface="Calibri"/>
                  <a:cs typeface="Calibri"/>
                </a:rPr>
                <a:t>Conditional delay probability tables across all segments</a:t>
              </a:r>
              <a:endParaRPr lang="en-US" sz="1100">
                <a:latin typeface="Calibri"/>
                <a:ea typeface="Calibri"/>
                <a:cs typeface="Calibri"/>
              </a:endParaRPr>
            </a:p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100">
                  <a:solidFill>
                    <a:srgbClr val="C5D9F1"/>
                  </a:solidFill>
                  <a:latin typeface="Calibri"/>
                  <a:ea typeface="Calibri"/>
                  <a:cs typeface="Calibri"/>
                </a:rPr>
                <a:t>Predictive ML model with feature importance analysis</a:t>
              </a:r>
              <a:endParaRPr lang="en-US" sz="1100">
                <a:latin typeface="Calibri"/>
                <a:ea typeface="Calibri"/>
                <a:cs typeface="Calibri"/>
              </a:endParaRPr>
            </a:p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100">
                  <a:solidFill>
                    <a:srgbClr val="C5D9F1"/>
                  </a:solidFill>
                  <a:latin typeface="Calibri"/>
                  <a:ea typeface="Calibri"/>
                  <a:cs typeface="Calibri"/>
                </a:rPr>
                <a:t>6 business SQL queries on a production-ready schema</a:t>
              </a:r>
              <a:endParaRPr lang="en-US" sz="1100">
                <a:latin typeface="Calibri"/>
                <a:ea typeface="Calibri"/>
                <a:cs typeface="Calibri"/>
              </a:endParaRPr>
            </a:p>
            <a:p>
              <a:pPr marL="342900" indent="-342900">
                <a:spcAft>
                  <a:spcPts val="500"/>
                </a:spcAft>
                <a:buSzPct val="100000"/>
                <a:buChar char="•"/>
              </a:pPr>
              <a:r>
                <a:rPr lang="en-US" sz="1100">
                  <a:solidFill>
                    <a:srgbClr val="C5D9F1"/>
                  </a:solidFill>
                  <a:latin typeface="Calibri"/>
                  <a:ea typeface="Calibri"/>
                  <a:cs typeface="Calibri"/>
                </a:rPr>
                <a:t>GenAI-powered route-level operational playbook</a:t>
              </a:r>
              <a:endParaRPr lang="en-US" sz="110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21" name="Shape 19"/>
          <p:cNvSpPr/>
          <p:nvPr/>
        </p:nvSpPr>
        <p:spPr>
          <a:xfrm>
            <a:off x="3512036" y="1833843"/>
            <a:ext cx="2805728" cy="3012477"/>
          </a:xfrm>
          <a:prstGeom prst="rect">
            <a:avLst/>
          </a:prstGeom>
          <a:solidFill>
            <a:srgbClr val="12284A"/>
          </a:solidFill>
          <a:ln/>
        </p:spPr>
      </p:sp>
      <p:sp>
        <p:nvSpPr>
          <p:cNvPr id="22" name="Text 20"/>
          <p:cNvSpPr/>
          <p:nvPr/>
        </p:nvSpPr>
        <p:spPr>
          <a:xfrm>
            <a:off x="3640791" y="1967305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Future Scope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640792" y="2039651"/>
            <a:ext cx="2558840" cy="2678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C5D9F1"/>
                </a:solidFill>
                <a:latin typeface="Calibri"/>
                <a:ea typeface="Calibri"/>
                <a:cs typeface="Calibri"/>
              </a:rPr>
              <a:t>Real-time delay prediction API integrated into logistics TMS</a:t>
            </a:r>
            <a:endParaRPr lang="en-US" sz="11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C5D9F1"/>
                </a:solidFill>
                <a:latin typeface="Calibri"/>
                <a:ea typeface="Calibri"/>
                <a:cs typeface="Calibri"/>
              </a:rPr>
              <a:t>Expanded dataset: actual lead times, carrier identifiers, cost breakdowns</a:t>
            </a:r>
            <a:endParaRPr lang="en-US" sz="11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C5D9F1"/>
                </a:solidFill>
                <a:latin typeface="Calibri"/>
                <a:ea typeface="Calibri"/>
                <a:cs typeface="Calibri"/>
              </a:rPr>
              <a:t>LSTM time-series model for seasonal delay forecasting</a:t>
            </a:r>
            <a:endParaRPr lang="en-US" sz="11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C5D9F1"/>
                </a:solidFill>
                <a:latin typeface="Calibri"/>
                <a:ea typeface="Calibri"/>
                <a:cs typeface="Calibri"/>
              </a:rPr>
              <a:t>Live Sankey dashboard connected to live shipment data feed</a:t>
            </a:r>
            <a:endParaRPr lang="en-US" sz="11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C5D9F1"/>
                </a:solidFill>
                <a:latin typeface="Calibri"/>
                <a:ea typeface="Calibri"/>
                <a:cs typeface="Calibri"/>
              </a:rPr>
              <a:t>Automated SLA alert system triggered by delay risk score threshold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17</Slides>
  <Notes>15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Analytics — Consulting Presentation</dc:title>
  <dc:subject>PptxGenJS Presentation</dc:subject>
  <dc:creator>PptxGenJS</dc:creator>
  <cp:revision>5</cp:revision>
  <dcterms:created xsi:type="dcterms:W3CDTF">2026-05-08T05:33:53Z</dcterms:created>
  <dcterms:modified xsi:type="dcterms:W3CDTF">2026-05-11T09:08:18Z</dcterms:modified>
</cp:coreProperties>
</file>